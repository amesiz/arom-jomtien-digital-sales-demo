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d330dec67242f4" /><Relationship Type="http://schemas.openxmlformats.org/officeDocument/2006/relationships/extended-properties" Target="/docProps/app.xml" Id="R4cfa9c6e5f4146f2" /><Relationship Type="http://schemas.openxmlformats.org/officeDocument/2006/relationships/officeDocument" Target="/ppt/presentation.xml" Id="R4781caa2576849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0a4faa6e1b4b89"/>
  </p:sldMasterIdLst>
  <p:notesMasterIdLst>
    <p:notesMasterId xmlns:r="http://schemas.openxmlformats.org/officeDocument/2006/relationships" r:id="R25f9231fad1c4bf5"/>
  </p:notesMasterIdLst>
  <p:sldIdLst>
    <p:sldId xmlns:r="http://schemas.openxmlformats.org/officeDocument/2006/relationships" id="256" r:id="R0e3514276cd2421a"/>
    <p:sldId xmlns:r="http://schemas.openxmlformats.org/officeDocument/2006/relationships" id="257" r:id="R1056b1360d7d4b43"/>
    <p:sldId xmlns:r="http://schemas.openxmlformats.org/officeDocument/2006/relationships" id="258" r:id="Rf0d2a0f225e1478d"/>
    <p:sldId xmlns:r="http://schemas.openxmlformats.org/officeDocument/2006/relationships" id="259" r:id="Ra257778d04974646"/>
    <p:sldId xmlns:r="http://schemas.openxmlformats.org/officeDocument/2006/relationships" id="260" r:id="R43e987f7b16a47ca"/>
    <p:sldId xmlns:r="http://schemas.openxmlformats.org/officeDocument/2006/relationships" id="261" r:id="Re667cc00ee1f417b"/>
    <p:sldId xmlns:r="http://schemas.openxmlformats.org/officeDocument/2006/relationships" id="262" r:id="R208da8df1bf34b76"/>
    <p:sldId xmlns:r="http://schemas.openxmlformats.org/officeDocument/2006/relationships" id="263" r:id="R3edf8bf0c3354819"/>
    <p:sldId xmlns:r="http://schemas.openxmlformats.org/officeDocument/2006/relationships" id="264" r:id="Ra400926747d74132"/>
    <p:sldId xmlns:r="http://schemas.openxmlformats.org/officeDocument/2006/relationships" id="265" r:id="R0c31e2ec979744f2"/>
    <p:sldId xmlns:r="http://schemas.openxmlformats.org/officeDocument/2006/relationships" id="266" r:id="R6208bcabe86d453a"/>
    <p:sldId xmlns:r="http://schemas.openxmlformats.org/officeDocument/2006/relationships" id="267" r:id="R1e33a4bb08314741"/>
    <p:sldId xmlns:r="http://schemas.openxmlformats.org/officeDocument/2006/relationships" id="268" r:id="Ra4cf9e566cdb4b9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893e3582fe4ddb" /><Relationship Type="http://schemas.openxmlformats.org/officeDocument/2006/relationships/slideMaster" Target="/ppt/slideMasters/slideMaster1.xml" Id="Re00a4faa6e1b4b89" /><Relationship Type="http://schemas.openxmlformats.org/officeDocument/2006/relationships/notesMaster" Target="/ppt/notesMasters/notesMaster1.xml" Id="R25f9231fad1c4bf5" /><Relationship Type="http://schemas.openxmlformats.org/officeDocument/2006/relationships/presProps" Target="/ppt/presProps.xml" Id="R0914d77366f246d4" /><Relationship Type="http://schemas.openxmlformats.org/officeDocument/2006/relationships/tableStyles" Target="/ppt/tableStyles.xml" Id="R4624389bd9c3482f" /><Relationship Type="http://schemas.openxmlformats.org/officeDocument/2006/relationships/slide" Target="/ppt/slides/slide1.xml" Id="R0e3514276cd2421a" /><Relationship Type="http://schemas.openxmlformats.org/officeDocument/2006/relationships/slide" Target="/ppt/slides/slide2.xml" Id="R1056b1360d7d4b43" /><Relationship Type="http://schemas.openxmlformats.org/officeDocument/2006/relationships/slide" Target="/ppt/slides/slide3.xml" Id="Rf0d2a0f225e1478d" /><Relationship Type="http://schemas.openxmlformats.org/officeDocument/2006/relationships/slide" Target="/ppt/slides/slide4.xml" Id="Ra257778d04974646" /><Relationship Type="http://schemas.openxmlformats.org/officeDocument/2006/relationships/slide" Target="/ppt/slides/slide5.xml" Id="R43e987f7b16a47ca" /><Relationship Type="http://schemas.openxmlformats.org/officeDocument/2006/relationships/slide" Target="/ppt/slides/slide6.xml" Id="Re667cc00ee1f417b" /><Relationship Type="http://schemas.openxmlformats.org/officeDocument/2006/relationships/slide" Target="/ppt/slides/slide7.xml" Id="R208da8df1bf34b76" /><Relationship Type="http://schemas.openxmlformats.org/officeDocument/2006/relationships/slide" Target="/ppt/slides/slide8.xml" Id="R3edf8bf0c3354819" /><Relationship Type="http://schemas.openxmlformats.org/officeDocument/2006/relationships/slide" Target="/ppt/slides/slide9.xml" Id="Ra400926747d74132" /><Relationship Type="http://schemas.openxmlformats.org/officeDocument/2006/relationships/slide" Target="/ppt/slides/slide10.xml" Id="R0c31e2ec979744f2" /><Relationship Type="http://schemas.openxmlformats.org/officeDocument/2006/relationships/slide" Target="/ppt/slides/slide11.xml" Id="R6208bcabe86d453a" /><Relationship Type="http://schemas.openxmlformats.org/officeDocument/2006/relationships/slide" Target="/ppt/slides/slide12.xml" Id="R1e33a4bb08314741" /><Relationship Type="http://schemas.openxmlformats.org/officeDocument/2006/relationships/slide" Target="/ppt/slides/slide13.xml" Id="Ra4cf9e566cdb4b9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a4dac7351014c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8244b319d34424" /><Relationship Type="http://schemas.openxmlformats.org/officeDocument/2006/relationships/notesMaster" Target="/ppt/notesMasters/notesMaster1.xml" Id="R4810112c1d884d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c9e61ce927f407c" /><Relationship Type="http://schemas.openxmlformats.org/officeDocument/2006/relationships/notesMaster" Target="/ppt/notesMasters/notesMaster1.xml" Id="R89fabd01601441a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132c1c6596e4791" /><Relationship Type="http://schemas.openxmlformats.org/officeDocument/2006/relationships/notesMaster" Target="/ppt/notesMasters/notesMaster1.xml" Id="R50be9f98253847c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d73ee2d9c44cf3" /><Relationship Type="http://schemas.openxmlformats.org/officeDocument/2006/relationships/notesMaster" Target="/ppt/notesMasters/notesMaster1.xml" Id="R4d444c8d479a44b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dbf7924a5824cc6" /><Relationship Type="http://schemas.openxmlformats.org/officeDocument/2006/relationships/notesMaster" Target="/ppt/notesMasters/notesMaster1.xml" Id="Rf516957cada1499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631271cdc614371" /><Relationship Type="http://schemas.openxmlformats.org/officeDocument/2006/relationships/notesMaster" Target="/ppt/notesMasters/notesMaster1.xml" Id="R48ac616e8e8a4ab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1cef8437d564f1d" /><Relationship Type="http://schemas.openxmlformats.org/officeDocument/2006/relationships/notesMaster" Target="/ppt/notesMasters/notesMaster1.xml" Id="R7de6b6464c1348c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32a053fb54c4e15" /><Relationship Type="http://schemas.openxmlformats.org/officeDocument/2006/relationships/notesMaster" Target="/ppt/notesMasters/notesMaster1.xml" Id="R039d26c5b125455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e34c70f5e75470b" /><Relationship Type="http://schemas.openxmlformats.org/officeDocument/2006/relationships/notesMaster" Target="/ppt/notesMasters/notesMaster1.xml" Id="R393262265f7f465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a0f1f75c3394490" /><Relationship Type="http://schemas.openxmlformats.org/officeDocument/2006/relationships/notesMaster" Target="/ppt/notesMasters/notesMaster1.xml" Id="Rb55278635c5745a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b4c7a04419d4b21" /><Relationship Type="http://schemas.openxmlformats.org/officeDocument/2006/relationships/notesMaster" Target="/ppt/notesMasters/notesMaster1.xml" Id="R6da76b143423408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ffafdc315404d99" /><Relationship Type="http://schemas.openxmlformats.org/officeDocument/2006/relationships/notesMaster" Target="/ppt/notesMasters/notesMaster1.xml" Id="Rdfd1d99119ad4cb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c8538dfc9734356" /><Relationship Type="http://schemas.openxmlformats.org/officeDocument/2006/relationships/notesMaster" Target="/ppt/notesMasters/notesMaster1.xml" Id="R6f2f32bb096a4c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ข้อมูลโครงการทางการอ้างอิง: https://www.coloursdevelopment.com/aromjomtien/</a:t>
            </a:r>
          </a:p>
          <a:p xmlns:a="http://schemas.openxmlformats.org/drawingml/2006/main">
            <a:r>
              <a:t>ตัวเลข performance, lead, ราคา, booking value และชื่อบุคคลในเด็คเป็นข้อมูลสมมติสำหรับ concept demo เท่านั้น.</a:t>
            </a:r>
          </a:p>
          <a:p xmlns:a="http://schemas.openxmlformats.org/drawingml/2006/main">
            <a:r>
              <a:t>ภาพหน้าปกเป็น concept visual ที่สร้างขึ้นใหม่ ไม่ใช่ภาพอาคารจริงของโครงการ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ข้อมูลโครงการทางการอ้างอิง: https://www.coloursdevelopment.com/aromjomtien/</a:t>
            </a:r>
          </a:p>
          <a:p xmlns:a="http://schemas.openxmlformats.org/drawingml/2006/main">
            <a:r>
              <a:t>ตัวเลข performance, lead, ราคา, booking value และชื่อบุคคลในเด็คเป็นข้อมูลสมมติสำหรับ concept demo เท่านั้น.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ข้อมูลโครงการทางการอ้างอิง: https://www.coloursdevelopment.com/aromjomtien/</a:t>
            </a:r>
          </a:p>
          <a:p xmlns:a="http://schemas.openxmlformats.org/drawingml/2006/main">
            <a:r>
              <a:t>ตัวเลข performance, lead, ราคา, booking value และชื่อบุคคลในเด็คเป็นข้อมูลสมมติสำหรับ concept demo เท่านั้น.</a:t>
            </a:r>
          </a:p>
          <a:p xmlns:a="http://schemas.openxmlformats.org/drawingml/2006/main">
            <a:r>
              <a:t>ภาพในเว็บไซต์เดโม่เป็น concept visual ไม่ใช่ภาพโครงการจริง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ข้อมูลโครงการทางการอ้างอิง: https://www.coloursdevelopment.com/aromjomtien/</a:t>
            </a:r>
          </a:p>
          <a:p xmlns:a="http://schemas.openxmlformats.org/drawingml/2006/main">
            <a:r>
              <a:t>ตัวเลข performance, lead, ราคา, booking value และชื่อบุคคลในเด็คเป็นข้อมูลสมมติสำหรับ concept demo เท่านั้น.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ข้อมูลโครงการทางการอ้างอิง: https://www.coloursdevelopment.com/aromjomtien/</a:t>
            </a:r>
          </a:p>
          <a:p xmlns:a="http://schemas.openxmlformats.org/drawingml/2006/main">
            <a:r>
              <a:t>ตัวเลข performance, lead, ราคา, booking value และชื่อบุคคลในเด็คเป็นข้อมูลสมมติสำหรับ concept demo เท่านั้น.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ข้อมูลโครงการทางการอ้างอิง: https://www.coloursdevelopment.com/aromjomtien/</a:t>
            </a:r>
          </a:p>
          <a:p xmlns:a="http://schemas.openxmlformats.org/drawingml/2006/main">
            <a:r>
              <a:t>ตัวเลข performance, lead, ราคา, booking value และชื่อบุคคลในเด็คเป็นข้อมูลสมมติสำหรับ concept demo เท่านั้น.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ข้อมูลโครงการทางการอ้างอิง: https://www.coloursdevelopment.com/aromjomtien/</a:t>
            </a:r>
          </a:p>
          <a:p xmlns:a="http://schemas.openxmlformats.org/drawingml/2006/main">
            <a:r>
              <a:t>ตัวเลข performance, lead, ราคา, booking value และชื่อบุคคลในเด็คเป็นข้อมูลสมมติสำหรับ concept demo เท่านั้น.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ข้อมูลโครงการทางการอ้างอิง: https://www.coloursdevelopment.com/aromjomtien/</a:t>
            </a:r>
          </a:p>
          <a:p xmlns:a="http://schemas.openxmlformats.org/drawingml/2006/main">
            <a:r>
              <a:t>ตัวเลข performance, lead, ราคา, booking value และชื่อบุคคลในเด็คเป็นข้อมูลสมมติสำหรับ concept demo เท่านั้น.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ข้อมูลโครงการทางการอ้างอิง: https://www.coloursdevelopment.com/aromjomtien/</a:t>
            </a:r>
          </a:p>
          <a:p xmlns:a="http://schemas.openxmlformats.org/drawingml/2006/main">
            <a:r>
              <a:t>ตัวเลข performance, lead, ราคา, booking value และชื่อบุคคลในเด็คเป็นข้อมูลสมมติสำหรับ concept demo เท่านั้น.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ข้อมูลโครงการทางการอ้างอิง: https://www.coloursdevelopment.com/aromjomtien/</a:t>
            </a:r>
          </a:p>
          <a:p xmlns:a="http://schemas.openxmlformats.org/drawingml/2006/main">
            <a:r>
              <a:t>ตัวเลข performance, lead, ราคา, booking value และชื่อบุคคลในเด็คเป็นข้อมูลสมมติสำหรับ concept demo เท่านั้น.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fdb842cf4549b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dbcdf5ec82479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f196a56c7b4b1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26fde71eff417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d7b0d0ed1a422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80ff48e2c540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482E9C4-33B4-409D-9439-DB48588510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CC46F5B-DE60-405A-A597-C542C91A346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FE63497-B13C-4A9C-A464-1263D51A21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0654766-162E-4A96-AEF5-AB3FFC13B0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C326C58-DF18-4BA6-B22B-106CC7F4FC5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C1327D8-EFDE-4760-8BC3-D5DB84F4D5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C16AB63-711D-4EA1-B1F3-D6CA8DD416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9004EED-B0CA-4298-A10D-A390C599164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F1CC8E1-27A4-4318-B436-ECF1466BF8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DC36D04-BB09-46F4-9C24-A2A51B92B97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cf67a7b0b36432f" /><Relationship Type="http://schemas.openxmlformats.org/officeDocument/2006/relationships/slideLayout" Target="/ppt/slideLayouts/slideLayout1.xml" Id="R78df4108bda0429a" /><Relationship Type="http://schemas.openxmlformats.org/officeDocument/2006/relationships/slideLayout" Target="/ppt/slideLayouts/slideLayout2.xml" Id="R8688ce625be14ade" /><Relationship Type="http://schemas.openxmlformats.org/officeDocument/2006/relationships/slideLayout" Target="/ppt/slideLayouts/slideLayout3.xml" Id="R1a920206550b4768" /><Relationship Type="http://schemas.openxmlformats.org/officeDocument/2006/relationships/slideLayout" Target="/ppt/slideLayouts/slideLayout4.xml" Id="Rd161366b91f1418e" /><Relationship Type="http://schemas.openxmlformats.org/officeDocument/2006/relationships/slideLayout" Target="/ppt/slideLayouts/slideLayout5.xml" Id="Ra1a660d6674841a4" /><Relationship Type="http://schemas.openxmlformats.org/officeDocument/2006/relationships/slideLayout" Target="/ppt/slideLayouts/slideLayout6.xml" Id="R5618d2f720dd456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df4108bda0429a"/>
    <p:sldLayoutId xmlns:r="http://schemas.openxmlformats.org/officeDocument/2006/relationships" id="2147483650" r:id="R8688ce625be14ade"/>
    <p:sldLayoutId xmlns:r="http://schemas.openxmlformats.org/officeDocument/2006/relationships" id="2147483651" r:id="R1a920206550b4768"/>
    <p:sldLayoutId xmlns:r="http://schemas.openxmlformats.org/officeDocument/2006/relationships" id="2147483652" r:id="Rd161366b91f1418e"/>
    <p:sldLayoutId xmlns:r="http://schemas.openxmlformats.org/officeDocument/2006/relationships" id="2147483653" r:id="Ra1a660d6674841a4"/>
    <p:sldLayoutId xmlns:r="http://schemas.openxmlformats.org/officeDocument/2006/relationships" id="2147483654" r:id="R5618d2f720dd456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35b2e1dabe4e7b" /><Relationship Type="http://schemas.openxmlformats.org/officeDocument/2006/relationships/image" Target="/ppt/media/image.png" Id="R9b5cac83ca314ef7" /><Relationship Type="http://schemas.openxmlformats.org/officeDocument/2006/relationships/notesSlide" Target="/ppt/notesSlides/notesSlide1.xml" Id="Rce3d589b0933415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aeb79eb76743c3" /><Relationship Type="http://schemas.openxmlformats.org/officeDocument/2006/relationships/notesSlide" Target="/ppt/notesSlides/notesSlide2.xml" Id="R5e04bb43c72040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448482461f4a38" /><Relationship Type="http://schemas.openxmlformats.org/officeDocument/2006/relationships/image" Target="/ppt/media/image.jpeg" Id="Rd02cc73fd354427c" /><Relationship Type="http://schemas.openxmlformats.org/officeDocument/2006/relationships/notesSlide" Target="/ppt/notesSlides/notesSlide3.xml" Id="R0ac3e0900afc491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79f98e999848ba" /><Relationship Type="http://schemas.openxmlformats.org/officeDocument/2006/relationships/image" Target="/ppt/media/image2.jpeg" Id="Rdd1292ba6dcd49d3" /><Relationship Type="http://schemas.openxmlformats.org/officeDocument/2006/relationships/notesSlide" Target="/ppt/notesSlides/notesSlide4.xml" Id="R84d7102b4a1640f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f04909643d4d07" /><Relationship Type="http://schemas.openxmlformats.org/officeDocument/2006/relationships/chart" Target="/ppt/slides/charts/chart1.xml" Id="R2c18e5ca3ee445c7" /><Relationship Type="http://schemas.openxmlformats.org/officeDocument/2006/relationships/notesSlide" Target="/ppt/notesSlides/notesSlide5.xml" Id="Rd584810a118f449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31d3e58cc148a9" /><Relationship Type="http://schemas.openxmlformats.org/officeDocument/2006/relationships/notesSlide" Target="/ppt/notesSlides/notesSlide6.xml" Id="R8ea0531c41c14de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e9d83c36064318" /><Relationship Type="http://schemas.openxmlformats.org/officeDocument/2006/relationships/notesSlide" Target="/ppt/notesSlides/notesSlide7.xml" Id="Rad6841f7e688416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a38b6e5d83437e" /><Relationship Type="http://schemas.openxmlformats.org/officeDocument/2006/relationships/image" Target="/ppt/media/image3.jpeg" Id="R308800706b9b48fe" /><Relationship Type="http://schemas.openxmlformats.org/officeDocument/2006/relationships/notesSlide" Target="/ppt/notesSlides/notesSlide8.xml" Id="Rd8e8d1a3fd55431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b31f219f68454d" /><Relationship Type="http://schemas.openxmlformats.org/officeDocument/2006/relationships/notesSlide" Target="/ppt/notesSlides/notesSlide9.xml" Id="R012e44d9914442a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47c9cc55e4455f" /><Relationship Type="http://schemas.openxmlformats.org/officeDocument/2006/relationships/image" Target="/ppt/media/image4.jpeg" Id="Rf2b45b8092e64987" /><Relationship Type="http://schemas.openxmlformats.org/officeDocument/2006/relationships/notesSlide" Target="/ppt/notesSlides/notesSlide10.xml" Id="R34968c1d34aa40b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9ea78233484076" /><Relationship Type="http://schemas.openxmlformats.org/officeDocument/2006/relationships/notesSlide" Target="/ppt/notesSlides/notesSlide11.xml" Id="Rdde58d92c6a8479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98fa3914ff479b" /><Relationship Type="http://schemas.openxmlformats.org/officeDocument/2006/relationships/notesSlide" Target="/ppt/notesSlides/notesSlide12.xml" Id="R9b7a702e589c494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322ad025234d61" /><Relationship Type="http://schemas.openxmlformats.org/officeDocument/2006/relationships/notesSlide" Target="/ppt/notesSlides/notesSlide13.xml" Id="R9a4db7df7266491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Cost per booking</c:v>
          </c:tx>
          <c:spPr>
            <a:solidFill xmlns:a="http://schemas.openxmlformats.org/drawingml/2006/main">
              <a:srgbClr val="1E6B63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Meta</c:v>
                </c:pt>
                <c:pt idx="1">
                  <c:v>Google</c:v>
                </c:pt>
                <c:pt idx="2">
                  <c:v>TikTok</c:v>
                </c:pt>
                <c:pt idx="3">
                  <c:v>Property Portal</c:v>
                </c:pt>
              </c:strCache>
            </c:strRef>
          </c:cat>
          <c:val>
            <c:numRef>
              <c:f>'Chart Data'!$B$2:$B$5</c:f>
              <c:numCache>
                <c:formatCode>฿#,##0</c:formatCode>
                <c:ptCount val="4"/>
                <c:pt idx="0">
                  <c:v>28640</c:v>
                </c:pt>
                <c:pt idx="1">
                  <c:v>27578</c:v>
                </c:pt>
                <c:pt idx="2">
                  <c:v>42267</c:v>
                </c:pt>
                <c:pt idx="3">
                  <c:v>45300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13262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36F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8E5"/>
              </a:solidFill>
              <a:prstDash val="solid"/>
            </a:ln>
          </c:spPr>
        </c:majorGridlines>
        <c:numFmt formatCode="฿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736F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5F0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7F5F0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B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69C18D-821B-40F7-A6DD-ABD05D30D9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5cac83ca314ef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EE9F9B-85EB-45E3-A9C1-A428D87D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29">
              <a:alpha val="7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7AA915-11E7-441C-B699-2EF7F3C37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75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275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275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275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275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275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275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275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275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275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275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AROM JOMTIEN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0F426A-1766-4BDF-B135-58612BAD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0012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0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rPr>
              <a:t>DIGITAL SALES COMMAND CENTER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FFA9A5-AF93-4172-98A8-A50AEA1D8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7429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42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42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42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42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42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42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42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42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42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42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42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42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คู่มือการใช้งานเดโม่</a:t>
            </a:r>
          </a:p>
          <a:p xmlns:a="http://schemas.openxmlformats.org/drawingml/2006/main">
            <a:pPr algn="l">
              <a:buNone/>
              <a:defRPr sz="42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42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จากงบโฆษณาถึงยอดจอง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D365D8-8CDD-457D-9CA3-71945358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866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DCE9E2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0" i="0">
                <a:solidFill>
                  <a:srgbClr val="DCE9E2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0" i="0">
                <a:solidFill>
                  <a:srgbClr val="DCE9E2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0" i="0">
                <a:solidFill>
                  <a:srgbClr val="DCE9E2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0" i="0">
                <a:solidFill>
                  <a:srgbClr val="DCE9E2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0" i="0">
                <a:solidFill>
                  <a:srgbClr val="DCE9E2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0" i="0">
                <a:solidFill>
                  <a:srgbClr val="DCE9E2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0" i="0">
                <a:solidFill>
                  <a:srgbClr val="DCE9E2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0" i="0">
                <a:solidFill>
                  <a:srgbClr val="DCE9E2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0" i="0">
                <a:solidFill>
                  <a:srgbClr val="DCE9E2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0" i="0">
                <a:solidFill>
                  <a:srgbClr val="DCE9E2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 i="0">
                <a:solidFill>
                  <a:srgbClr val="DCE9E2"/>
                </a:solidFill>
                <a:latin typeface="Leelawadee UI"/>
                <a:ea typeface="Leelawadee UI"/>
                <a:cs typeface="Leelawadee UI"/>
              </a:rPr>
              <a:t>Marketing Intelligence · CRM · Unit Inventory · Booking · Website Redesign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70577F-DBFD-433C-9779-114C08FD2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05450"/>
            <a:ext cx="1981200" cy="295275"/>
          </a:xfrm>
          <a:prstGeom xmlns:a="http://schemas.openxmlformats.org/drawingml/2006/main" prst="roundRect">
            <a:avLst>
              <a:gd name="adj" fmla="val 38710"/>
            </a:avLst>
          </a:prstGeom>
          <a:solidFill xmlns:a="http://schemas.openxmlformats.org/drawingml/2006/main">
            <a:srgbClr val="F5F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rPr>
              <a:t>PRIVATE CONCEPT DEMO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451534-4D5F-437F-9E4B-36245FB43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61975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>
            <a:defPPr algn="r">
              <a:defRPr sz="825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825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825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825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825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825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825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825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825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825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825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19 OCTOBER 2026</a:t>
            </a:r>
          </a:p>
        </p:txBody>
      </p:sp>
    </p:spTree>
    <p:extLst>
      <p:ext uri="{BB962C8B-B14F-4D97-AF65-F5344CB8AC3E}">
        <p14:creationId xmlns:p14="http://schemas.microsoft.com/office/powerpoint/2010/main" val="12185197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10223E-E729-44CA-8CE7-1DCD2AF4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rPr>
              <a:t>01 · SYSTEM AT A GLANCE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91BC2A-3504-46A3-B4F5-75DBA784F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pPr>
            <a:r>
              <a: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rPr>
              <a:t>หนึ่งระบบ · หนึ่ง customer journey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3528F4-9AE7-4EF8-8075-F5FBA9059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rPr>
              <a:t>ทุกจุดสัมผัสส่งข้อมูลต่อกัน และหัวหน้าเห็นผลตั้งแต่ media จนถึง booking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5AB781-C6AC-43D2-8536-C6033AAC2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28875"/>
            <a:ext cx="2400300" cy="24003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8BA01F-EE9A-4A4B-9D8C-7D0EA3946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384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B8DE7F-D964-4870-8B9C-F13F3D80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050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050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050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050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050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050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050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050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050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050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050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B5FCDE-A8EF-4B9B-84E0-3E1E63695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337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851"/>
          </a:bodyPr>
          <a:lstStyle xmlns:a="http://schemas.openxmlformats.org/drawingml/2006/main">
            <a:defPPr algn="l">
              <a:defRPr sz="21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1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1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1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1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1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1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1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1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1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1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pPr>
            <a:r>
              <a:rPr sz="21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rPr>
              <a:t>Acquire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07E971-F3BA-4F78-BEC2-25190920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67150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2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2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2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2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2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2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2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2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2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2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rPr>
              <a:t>Meta · Google · TikTok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rPr>
              <a:t>Portal · Booth · Broker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D737A2-B122-4F28-BFB7-47FAAF4F5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337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841"/>
          </a:bodyPr>
          <a:lstStyle xmlns:a="http://schemas.openxmlformats.org/drawingml/2006/main">
            <a:defPPr algn="ctr">
              <a:defRPr sz="21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21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21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21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21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21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21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21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21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21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21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pPr>
            <a:r>
              <a:rPr sz="21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60E14E-9D81-49BD-8A2C-A682350C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28875"/>
            <a:ext cx="2400300" cy="24003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B4396B-BB10-4155-9FCF-B1FDAADD9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6384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DF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E2B534-DAC5-4D60-95C0-2C472A04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647950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050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050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050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050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050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050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050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050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050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050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050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D576AF-61F6-42A7-A9F3-6A1E20314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337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851"/>
          </a:bodyPr>
          <a:lstStyle xmlns:a="http://schemas.openxmlformats.org/drawingml/2006/main">
            <a:defPPr algn="l">
              <a:defRPr sz="21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1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1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1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1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1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1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1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1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1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1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pPr>
            <a:r>
              <a:rPr sz="21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rPr>
              <a:t>Qualify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D1B8B0-6312-425C-A169-4CA2AC94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67150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2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2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2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2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2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2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2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2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2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2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rPr>
              <a:t>Lead owner · Follow-up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rPr>
              <a:t>Visit · Bank status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01E100-94C3-400E-B059-AFFBEC991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337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841"/>
          </a:bodyPr>
          <a:lstStyle xmlns:a="http://schemas.openxmlformats.org/drawingml/2006/main">
            <a:defPPr algn="ctr">
              <a:defRPr sz="21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21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21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21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21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21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21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21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21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21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21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pPr>
            <a:r>
              <a:rPr sz="21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83A5A0-4DCE-49D7-956C-9506768DD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28875"/>
            <a:ext cx="2400300" cy="24003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39E72A-3A9E-4215-8327-EBBC7E2D5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384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0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806A41-B9E2-4910-859C-EF31A32C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47950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050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050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050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050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050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050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050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050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050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050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050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C48450-ADA3-4DFD-829A-15CF381BD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337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851"/>
          </a:bodyPr>
          <a:lstStyle xmlns:a="http://schemas.openxmlformats.org/drawingml/2006/main">
            <a:defPPr algn="l">
              <a:defRPr sz="21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1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1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1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1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1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1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1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1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1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1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pPr>
            <a:r>
              <a:rPr sz="21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rPr>
              <a:t>Convert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4C8B01-65C1-4F35-9F7F-0E406E4FD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67150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2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2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2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2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2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2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2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2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2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2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rPr>
              <a:t>Unit status · Hold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rPr>
              <a:t>Booking · Receipt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044A79-77E3-4DF0-A6D2-D9B49E14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337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841"/>
          </a:bodyPr>
          <a:lstStyle xmlns:a="http://schemas.openxmlformats.org/drawingml/2006/main">
            <a:defPPr algn="ctr">
              <a:defRPr sz="21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21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21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21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21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21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21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21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21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21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21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pPr>
            <a:r>
              <a:rPr sz="21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459CBC-AD01-4AE7-99A1-C74D3DA6D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28875"/>
            <a:ext cx="2400300" cy="24003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9F1481-A7BB-49C1-A4E7-1E7CDB117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6384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6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209CB2-F185-40A9-9BA1-A625438E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647950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050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050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050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050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050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050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050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050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050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050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050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BAB8AB-C2B8-4CE5-B3EA-8A3DDCC78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3337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851"/>
          </a:bodyPr>
          <a:lstStyle xmlns:a="http://schemas.openxmlformats.org/drawingml/2006/main">
            <a:defPPr algn="l">
              <a:defRPr sz="21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1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1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1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1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1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1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1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1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1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1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pPr>
            <a:r>
              <a:rPr sz="21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rPr>
              <a:t>Optimize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4268C9-86E8-45AF-9AC1-7404F1469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867150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2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2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2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2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2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2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2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2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2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2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rPr>
              <a:t>CPL · Cost / Visit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rPr>
              <a:t>Cost / Booking · ROAS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029E32-F4F5-42E1-BDE7-0341A0E1E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219700"/>
            <a:ext cx="37338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23B3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HEAD APPROVAL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D43581-EDD1-4B58-AED4-1EC14227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7340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rPr>
              <a:t>อนุมัติ strategy · budget · creative · scale / pause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5BF882-8E88-48D9-87B2-B9287E7C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7239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519"/>
          </a:bodyPr>
          <a:lstStyle xmlns:a="http://schemas.openxmlformats.org/drawingml/2006/main">
            <a:defPPr algn="l"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pPr>
            <a:r>
              <a: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rPr>
              <a:t>AROM JOMTIEN · DIGITAL SALES COMMAND CENTER · CONCEPT DEMO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157488-D697-45EB-8364-47D992294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r"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518576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C2495C-0F09-41D5-9486-617EB08F0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rPr>
              <a:t>02 · PUBLIC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2EF6FE-86B2-4BD8-B4EE-874A13B2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pPr>
            <a:r>
              <a: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rPr>
              <a:t>เว็บไซต์ใหม่ทำหน้าที่ “สร้างความอยาก” ก่อนขอ lead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F67BA5-1F52-4A96-9AC5-C4DCDBD5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rPr>
              <a:t>ลำดับเรื่องชัดขึ้น CTA เด่นขึ้น และแบบฟอร์มส่งข้อมูลเข้า CRM เดโม่ในเบราว์เซอร์เดียวกัน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47257A-BC05-420B-9BE4-234DA5D284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2cc73fd354427c"/>
          <a:srcRect xmlns:a="http://schemas.openxmlformats.org/drawingml/2006/main" l="28" t="0" r="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209800"/>
            <a:ext cx="7239000" cy="4076700"/>
          </a:xfrm>
          <a:prstGeom xmlns:a="http://schemas.openxmlformats.org/drawingml/2006/main" prst="roundRect">
            <a:avLst>
              <a:gd name="adj" fmla="val 2804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4271E0-449F-42F4-9258-0B5D8541A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09800"/>
            <a:ext cx="3295650" cy="4076700"/>
          </a:xfrm>
          <a:prstGeom xmlns:a="http://schemas.openxmlformats.org/drawingml/2006/main" prst="roundRect">
            <a:avLst>
              <a:gd name="adj" fmla="val 34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57E355-B9CE-4C9D-8A27-264EF02F3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146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>
            <a:defPPr algn="l">
              <a:defRPr sz="825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rPr>
              <a:t>DESIGN RATIONALE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1CD8E1-8C4C-417E-9DBB-3E5220E2A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952750"/>
            <a:ext cx="342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98E5C4-1E53-489C-B86A-405AF6012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933700"/>
            <a:ext cx="2143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490"/>
          </a:bodyPr>
          <a:lstStyle xmlns:a="http://schemas.openxmlformats.org/drawingml/2006/main">
            <a:defPPr algn="l">
              <a:def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rPr>
              <a:t>Value first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C5345A-F538-4912-A2B4-AE6EC82D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19087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9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9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9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9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9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9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9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9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9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9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9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rPr>
              <a:t>เปิดด้วยคุณค่าชีวิตริมทะเล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C23E8E-E73E-40D4-B77B-FB2826612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86175"/>
            <a:ext cx="342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AF4E6C-3E65-4998-8FCF-DFEF21554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667125"/>
            <a:ext cx="2143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490"/>
          </a:bodyPr>
          <a:lstStyle xmlns:a="http://schemas.openxmlformats.org/drawingml/2006/main">
            <a:defPPr algn="l">
              <a:def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rPr>
              <a:t>Narrative 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7FBBE4-EAD6-4A27-8027-6AE33C5B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243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>
            <a:defPPr algn="l">
              <a:defRPr sz="9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9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9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9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9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9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9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9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9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9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9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rPr>
              <a:t>Story → Residence → Experience → Location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796EA8-F9F4-401B-A48B-BB6253418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19600"/>
            <a:ext cx="342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C0FE7C-F6CD-43DF-A7D2-91DCEE003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400550"/>
            <a:ext cx="2143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490"/>
          </a:bodyPr>
          <a:lstStyle xmlns:a="http://schemas.openxmlformats.org/drawingml/2006/main">
            <a:defPPr algn="l">
              <a:def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rPr>
              <a:t>Clear CTA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0B91DE-ADB9-4046-96F3-1F81DED06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5772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9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9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9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9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9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9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9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9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9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9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9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rPr>
              <a:t>Enquire now อยู่ในจังหวะตัดสินใจ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1AD47B-88F5-4720-B1A1-A991A7F1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153025"/>
            <a:ext cx="342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343F85-A7EE-48DF-8764-887D42D6C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133975"/>
            <a:ext cx="2143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490"/>
          </a:bodyPr>
          <a:lstStyle xmlns:a="http://schemas.openxmlformats.org/drawingml/2006/main">
            <a:defPPr algn="l">
              <a:def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rPr>
              <a:t>CRM handoff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A5BDCF-CC09-4B29-9995-637235A2B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3911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9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9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9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9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9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9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9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9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9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9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9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rPr>
              <a:t>บันทึก lead เข้า CRM แบบ local-only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FAA961-0FFB-4D26-884E-1CF04754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810250"/>
            <a:ext cx="2905125" cy="295275"/>
          </a:xfrm>
          <a:prstGeom xmlns:a="http://schemas.openxmlformats.org/drawingml/2006/main" prst="roundRect">
            <a:avLst>
              <a:gd name="adj" fmla="val 38710"/>
            </a:avLst>
          </a:prstGeom>
          <a:solidFill xmlns:a="http://schemas.openxmlformats.org/drawingml/2006/main">
            <a:srgbClr val="F1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825" b="1" i="0">
                <a:solidFill>
                  <a:srgbClr val="8A603B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825" b="1" i="0">
                <a:solidFill>
                  <a:srgbClr val="8A603B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825" b="1" i="0">
                <a:solidFill>
                  <a:srgbClr val="8A603B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825" b="1" i="0">
                <a:solidFill>
                  <a:srgbClr val="8A603B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825" b="1" i="0">
                <a:solidFill>
                  <a:srgbClr val="8A603B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825" b="1" i="0">
                <a:solidFill>
                  <a:srgbClr val="8A603B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825" b="1" i="0">
                <a:solidFill>
                  <a:srgbClr val="8A603B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825" b="1" i="0">
                <a:solidFill>
                  <a:srgbClr val="8A603B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825" b="1" i="0">
                <a:solidFill>
                  <a:srgbClr val="8A603B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825" b="1" i="0">
                <a:solidFill>
                  <a:srgbClr val="8A603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825" b="1" i="0">
                <a:solidFill>
                  <a:srgbClr val="8A603B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1" i="0">
                <a:solidFill>
                  <a:srgbClr val="8A603B"/>
                </a:solidFill>
                <a:latin typeface="Leelawadee UI"/>
                <a:ea typeface="Leelawadee UI"/>
                <a:cs typeface="Leelawadee UI"/>
              </a:rPr>
              <a:t>CONCEPT VISUALS · NOT OFFICIAL PHOTOS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64835E-BCC9-4797-8B16-73C74DB5D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7239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519"/>
          </a:bodyPr>
          <a:lstStyle xmlns:a="http://schemas.openxmlformats.org/drawingml/2006/main">
            <a:defPPr algn="l"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pPr>
            <a:r>
              <a: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rPr>
              <a:t>AROM JOMTIEN · DIGITAL SALES COMMAND CENTER · CONCEPT DEMO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D0C85A-3FC7-4875-A130-1E50B581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r"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954811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0851D5-0E62-4BBC-B301-59A609CBB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rPr>
              <a:t>03 · PERFORMANCE MARKETING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3ACDBE-A4EC-461D-AA3D-A823B403D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pPr>
            <a:r>
              <a: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rPr>
              <a:t>ตอบให้ได้ว่า “งบไปไหน และได้อะไรกลับมา”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0E723B-4B60-40F5-BA8A-C13506065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rPr>
              <a:t>ผู้บริหารกรองตามช่วงเวลาและ channel แล้วอ่านผลตั้งแต่ impression ถึง booking ได้ในหน้าเดียว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DCF4B0-20EE-4374-B9D3-8147BB25CB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1292ba6dcd49d3"/>
          <a:srcRect xmlns:a="http://schemas.openxmlformats.org/drawingml/2006/main" l="0" t="99" r="0" b="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143125"/>
            <a:ext cx="7715250" cy="4333875"/>
          </a:xfrm>
          <a:prstGeom xmlns:a="http://schemas.openxmlformats.org/drawingml/2006/main" prst="roundRect">
            <a:avLst>
              <a:gd name="adj" fmla="val 263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324546-CC28-404A-960B-EDF6482A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143125"/>
            <a:ext cx="2857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53C56E-46BE-438D-9189-9002AEE1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86000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490"/>
          </a:bodyPr>
          <a:lstStyle xmlns:a="http://schemas.openxmlformats.org/drawingml/2006/main">
            <a:defPPr algn="l">
              <a:defRPr sz="127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27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27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27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27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27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27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27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27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27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27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rPr>
              <a:t>CPL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FBCFA0-06F6-4878-9480-94A263FF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717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>
            <a:defPPr algn="l">
              <a:defRPr sz="9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9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9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9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9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9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9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9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9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9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9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rPr>
              <a:t>Spend ÷ Leads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4576DA-9825-4340-B873-BC588F17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124200"/>
            <a:ext cx="2857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F59917-9E79-49D9-A776-CDA507A40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67075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490"/>
          </a:bodyPr>
          <a:lstStyle xmlns:a="http://schemas.openxmlformats.org/drawingml/2006/main">
            <a:defPPr algn="l">
              <a:defRPr sz="127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27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27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27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27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27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27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27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27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27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27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rPr>
              <a:t>Cost / Visit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2CAD3D-DB9B-4259-888E-FBD960EF7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5528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>
            <a:defPPr algn="l">
              <a:defRPr sz="9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9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9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9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9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9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9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9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9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9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9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rPr>
              <a:t>Spend ÷ Visits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68A8C8-60B5-48C6-B3C1-4DB09C24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105275"/>
            <a:ext cx="2857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623A99-B04D-41EF-9F26-13107205F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248150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490"/>
          </a:bodyPr>
          <a:lstStyle xmlns:a="http://schemas.openxmlformats.org/drawingml/2006/main">
            <a:defPPr algn="l">
              <a:defRPr sz="127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27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27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27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27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27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27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27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27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27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27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rPr>
              <a:t>Cost / Booking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37A94E-5C7E-44A5-A026-8E173A8B6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5339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>
            <a:defPPr algn="l">
              <a:defRPr sz="9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9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9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9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9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9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9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9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9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9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9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rPr>
              <a:t>Spend ÷ Bookings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19D7FC-EA7C-41DE-81C8-0BD59A71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086350"/>
            <a:ext cx="2857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23B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E78B12-546F-4FB1-AF98-3087FC26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229225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490"/>
          </a:bodyPr>
          <a:lstStyle xmlns:a="http://schemas.openxmlformats.org/drawingml/2006/main">
            <a:defPPr algn="l">
              <a:defRPr sz="1275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275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275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275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275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275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275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275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275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275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275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ROAS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B8B360-6733-4694-B654-91D603203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51497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>
            <a:defPPr algn="l">
              <a:defRPr sz="975" b="0" i="0">
                <a:solidFill>
                  <a:srgbClr val="D5E5DE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975" b="0" i="0">
                <a:solidFill>
                  <a:srgbClr val="D5E5DE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975" b="0" i="0">
                <a:solidFill>
                  <a:srgbClr val="D5E5DE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975" b="0" i="0">
                <a:solidFill>
                  <a:srgbClr val="D5E5DE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975" b="0" i="0">
                <a:solidFill>
                  <a:srgbClr val="D5E5DE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975" b="0" i="0">
                <a:solidFill>
                  <a:srgbClr val="D5E5DE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975" b="0" i="0">
                <a:solidFill>
                  <a:srgbClr val="D5E5DE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975" b="0" i="0">
                <a:solidFill>
                  <a:srgbClr val="D5E5DE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975" b="0" i="0">
                <a:solidFill>
                  <a:srgbClr val="D5E5DE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975" b="0" i="0">
                <a:solidFill>
                  <a:srgbClr val="D5E5DE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975" b="0" i="0">
                <a:solidFill>
                  <a:srgbClr val="D5E5DE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0" i="0">
                <a:solidFill>
                  <a:srgbClr val="D5E5DE"/>
                </a:solidFill>
                <a:latin typeface="Leelawadee UI"/>
                <a:ea typeface="Leelawadee UI"/>
                <a:cs typeface="Leelawadee UI"/>
              </a:rPr>
              <a:t>Booking value ÷ Spend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3AD883-B15D-46BB-80A5-8E09C333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7239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519"/>
          </a:bodyPr>
          <a:lstStyle xmlns:a="http://schemas.openxmlformats.org/drawingml/2006/main">
            <a:defPPr algn="l"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pPr>
            <a:r>
              <a: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rPr>
              <a:t>AROM JOMTIEN · DIGITAL SALES COMMAND CENTER · CONCEPT DEMO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11FA2D-78AB-4E88-AAB7-845FFFCA3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r"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332108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AD87B6-6714-444C-80EB-28E84EFF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rPr>
              <a:t>04 · BUDGET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18B13D-BFDC-4687-B95E-349769C0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pPr>
            <a:r>
              <a: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rPr>
              <a:t>อย่าดูแค่ CPL — ดูถึง cost per booking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EA7C87-ED21-401D-B5A6-06C99A3F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rPr>
              <a:t>ในข้อมูลเดโม่ Meta และ Google ปิด booking ได้มีประสิทธิภาพกว่า TikTok และ Property Portal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8B737D-2EDA-479D-B08F-7C5DC4249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66950"/>
            <a:ext cx="3505200" cy="3562350"/>
          </a:xfrm>
          <a:prstGeom xmlns:a="http://schemas.openxmlformats.org/drawingml/2006/main" prst="roundRect">
            <a:avLst>
              <a:gd name="adj" fmla="val 32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2D3C62-A89B-4F8D-B533-83AEF9BD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717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rPr>
              <a:t>MANAGEMENT ACTION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646CCF-2D2C-46C2-813B-CFC7BE517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09900"/>
            <a:ext cx="638175" cy="295275"/>
          </a:xfrm>
          <a:prstGeom xmlns:a="http://schemas.openxmlformats.org/drawingml/2006/main" prst="roundRect">
            <a:avLst>
              <a:gd name="adj" fmla="val 38710"/>
            </a:avLst>
          </a:prstGeom>
          <a:solidFill xmlns:a="http://schemas.openxmlformats.org/drawingml/2006/main">
            <a:srgbClr val="D9EA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rPr>
              <a:t>SCALE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ED2E5A-593B-4713-A97E-6E8868A44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003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>
            <a:defPPr algn="l">
              <a:defRPr sz="11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1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1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1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1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1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1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1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1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1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1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rPr>
              <a:t>Google high-intent search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1DD8A9-95E3-44CE-B3F1-241E250C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19450"/>
            <a:ext cx="214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562"/>
          </a:bodyPr>
          <a:lstStyle xmlns:a="http://schemas.openxmlformats.org/drawingml/2006/main">
            <a:defPPr algn="l"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rPr>
              <a:t>รักษาคุณภาพ lead และเพิ่มงบแบบค่อยเป็นค่อยไป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405AFD-B391-45E9-BD3D-845F23C1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48075"/>
            <a:ext cx="638175" cy="295275"/>
          </a:xfrm>
          <a:prstGeom xmlns:a="http://schemas.openxmlformats.org/drawingml/2006/main" prst="roundRect">
            <a:avLst>
              <a:gd name="adj" fmla="val 38710"/>
            </a:avLst>
          </a:prstGeom>
          <a:solidFill xmlns:a="http://schemas.openxmlformats.org/drawingml/2006/main">
            <a:srgbClr val="D9EA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rPr>
              <a:t>KEEP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520DD9-A0C5-4099-AE73-51C077AE8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385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>
            <a:defPPr algn="l">
              <a:defRPr sz="11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1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1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1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1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1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1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1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1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1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1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rPr>
              <a:t>Meta lead gen + retargeting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9AD443-64BE-499D-8C69-B2CFC132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57625"/>
            <a:ext cx="214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rPr>
              <a:t>คุม creative fatigue และดู visit rate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FD239B-D419-46D3-B829-80774FDA9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86250"/>
            <a:ext cx="638175" cy="295275"/>
          </a:xfrm>
          <a:prstGeom xmlns:a="http://schemas.openxmlformats.org/drawingml/2006/main" prst="roundRect">
            <a:avLst>
              <a:gd name="adj" fmla="val 38710"/>
            </a:avLst>
          </a:prstGeom>
          <a:solidFill xmlns:a="http://schemas.openxmlformats.org/drawingml/2006/main">
            <a:srgbClr val="F1E0C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825" b="1" i="0">
                <a:solidFill>
                  <a:srgbClr val="8A603B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825" b="1" i="0">
                <a:solidFill>
                  <a:srgbClr val="8A603B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825" b="1" i="0">
                <a:solidFill>
                  <a:srgbClr val="8A603B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825" b="1" i="0">
                <a:solidFill>
                  <a:srgbClr val="8A603B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825" b="1" i="0">
                <a:solidFill>
                  <a:srgbClr val="8A603B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825" b="1" i="0">
                <a:solidFill>
                  <a:srgbClr val="8A603B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825" b="1" i="0">
                <a:solidFill>
                  <a:srgbClr val="8A603B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825" b="1" i="0">
                <a:solidFill>
                  <a:srgbClr val="8A603B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825" b="1" i="0">
                <a:solidFill>
                  <a:srgbClr val="8A603B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825" b="1" i="0">
                <a:solidFill>
                  <a:srgbClr val="8A603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825" b="1" i="0">
                <a:solidFill>
                  <a:srgbClr val="8A603B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1" i="0">
                <a:solidFill>
                  <a:srgbClr val="8A603B"/>
                </a:solidFill>
                <a:latin typeface="Leelawadee UI"/>
                <a:ea typeface="Leelawadee UI"/>
                <a:cs typeface="Leelawadee UI"/>
              </a:rPr>
              <a:t>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9A7EC6-CCF6-494B-9ED7-0C78B26B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27672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>
            <a:defPPr algn="l">
              <a:defRPr sz="11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1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1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1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1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1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1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1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1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1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1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rPr>
              <a:t>TikTok creative variants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E443D1-DA97-4C0F-89D2-8EFB9F334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495800"/>
            <a:ext cx="214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46"/>
          </a:bodyPr>
          <a:lstStyle xmlns:a="http://schemas.openxmlformats.org/drawingml/2006/main">
            <a:defPPr algn="l"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rPr>
              <a:t>แยก discovery จาก conversion campaign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3AF7B8-BCFE-45CB-8B69-08FCD82FE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24425"/>
            <a:ext cx="638175" cy="295275"/>
          </a:xfrm>
          <a:prstGeom xmlns:a="http://schemas.openxmlformats.org/drawingml/2006/main" prst="roundRect">
            <a:avLst>
              <a:gd name="adj" fmla="val 38710"/>
            </a:avLst>
          </a:prstGeom>
          <a:solidFill xmlns:a="http://schemas.openxmlformats.org/drawingml/2006/main">
            <a:srgbClr val="F1E0C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825" b="1" i="0">
                <a:solidFill>
                  <a:srgbClr val="8A603B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825" b="1" i="0">
                <a:solidFill>
                  <a:srgbClr val="8A603B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825" b="1" i="0">
                <a:solidFill>
                  <a:srgbClr val="8A603B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825" b="1" i="0">
                <a:solidFill>
                  <a:srgbClr val="8A603B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825" b="1" i="0">
                <a:solidFill>
                  <a:srgbClr val="8A603B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825" b="1" i="0">
                <a:solidFill>
                  <a:srgbClr val="8A603B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825" b="1" i="0">
                <a:solidFill>
                  <a:srgbClr val="8A603B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825" b="1" i="0">
                <a:solidFill>
                  <a:srgbClr val="8A603B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825" b="1" i="0">
                <a:solidFill>
                  <a:srgbClr val="8A603B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825" b="1" i="0">
                <a:solidFill>
                  <a:srgbClr val="8A603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825" b="1" i="0">
                <a:solidFill>
                  <a:srgbClr val="8A603B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1" i="0">
                <a:solidFill>
                  <a:srgbClr val="8A603B"/>
                </a:solidFill>
                <a:latin typeface="Leelawadee UI"/>
                <a:ea typeface="Leelawadee UI"/>
                <a:cs typeface="Leelawadee UI"/>
              </a:rPr>
              <a:t>REFINE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5049C8-DCA7-4E70-84AB-61E1D32C2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9149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>
            <a:defPPr algn="l">
              <a:defRPr sz="11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1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1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1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1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1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1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1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1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1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1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rPr>
              <a:t>Property portal placement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483AAC-F264-499D-A10B-0EF79568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133975"/>
            <a:ext cx="214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rPr>
              <a:t>วัด qualified lead ไม่ใช่แค่จำนวน enquiry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A1ABA0-2052-4504-AE16-17BF641D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7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7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7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7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7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7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7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7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7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7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7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pPr>
            <a:r>
              <a:rPr sz="7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rPr>
              <a:t>DEMO DATA · NOT A LIVE MEDIA PLAN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8BB427-8AC0-4805-9494-8514BAF9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7239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519"/>
          </a:bodyPr>
          <a:lstStyle xmlns:a="http://schemas.openxmlformats.org/drawingml/2006/main">
            <a:defPPr algn="l"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pPr>
            <a:r>
              <a: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rPr>
              <a:t>AROM JOMTIEN · DIGITAL SALES COMMAND CENTER · CONCEPT DEMO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0D394F-DEA3-4351-B696-B4D0EF17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r"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rPr>
              <a:t>05</a:t>
            </a:r>
          </a:p>
        </p:txBody>
      </p:sp>
      <p:graphicFrame>
        <p:nvGraphicFramePr>
          <p:cNvPr id="23" name="Chart">
            <a:extLst xmlns:a="http://schemas.openxmlformats.org/drawingml/2006/main">
              <a:ext uri="{FF2B5EF4-FFF2-40B4-BE49-F238E27FC236}">
                <a16:creationId xmlns:a16="http://schemas.microsoft.com/office/drawing/2014/main" id="{F4954E81-BA28-4B43-96A3-1B1CF42EF217}"/>
              </a:ext>
            </a:extLst>
          </p:cNvPr>
          <p:cNvGraphicFramePr/>
          <p:nvPr/>
        </p:nvGraphicFramePr>
        <p:xfrm>
          <a:off xmlns:a="http://schemas.openxmlformats.org/drawingml/2006/main" x="742950" y="2266950"/>
          <a:ext xmlns:a="http://schemas.openxmlformats.org/drawingml/2006/main" cx="6858000" cy="3562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c18e5ca3ee445c7"/>
          </a:graphicData>
        </a:graphic>
      </p:graphicFrame>
    </p:spTree>
    <p:extLst>
      <p:ext uri="{BB962C8B-B14F-4D97-AF65-F5344CB8AC3E}">
        <p14:creationId xmlns:p14="http://schemas.microsoft.com/office/powerpoint/2010/main" val="19178516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EE64BC1-F27B-48B4-B08B-AF0E157A7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rPr>
              <a:t>05 · CRM OPERATING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3FC759-CB30-4273-A1F5-6588B62D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pPr>
            <a:r>
              <a: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rPr>
              <a:t>lead ทุกแหล่งต้องมี owner และ next 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173C98-BA58-4187-B640-8494B9A3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rPr>
              <a:t>ออนไลน์, บูธ, นายหน้า และ referral เข้า pipeline เดียวกัน พร้อม SLA และประวัติ follow-up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11AE34-1813-4CB7-A265-937FEF18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1952625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DC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77EF4A-6580-43AB-8769-EAE5F94FE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85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161"/>
          </a:bodyPr>
          <a:lstStyle xmlns:a="http://schemas.openxmlformats.org/drawingml/2006/main">
            <a:defPPr algn="l">
              <a:defRPr sz="23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3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3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3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3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3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3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3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3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3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3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pPr>
            <a:r>
              <a:rPr sz="23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rPr>
              <a:t>82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64326A-FE93-468C-9FD6-0BE239196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rPr>
              <a:t>New inquiry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BB1198-891F-4A49-9492-F87077C7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80035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35648"/>
          </a:bodyPr>
          <a:lstStyle xmlns:a="http://schemas.openxmlformats.org/drawingml/2006/main">
            <a:defPPr algn="ctr">
              <a:defRPr sz="18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163F19-55F5-4B5D-A4EB-E0F6D1BCF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57450"/>
            <a:ext cx="1952625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9BC1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972B44-6AEE-4F5B-9F6A-68D97A39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47950"/>
            <a:ext cx="85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161"/>
          </a:bodyPr>
          <a:lstStyle xmlns:a="http://schemas.openxmlformats.org/drawingml/2006/main">
            <a:defPPr algn="l">
              <a:defRPr sz="23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3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3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3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3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3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3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3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3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3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3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pPr>
            <a:r>
              <a:rPr sz="23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rPr>
              <a:t>64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0F1B83-B9ED-4B93-91B7-28C69F1DD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432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rPr>
              <a:t>Qualified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E8AB75-46C1-4147-A68A-B9240286B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80035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35648"/>
          </a:bodyPr>
          <a:lstStyle xmlns:a="http://schemas.openxmlformats.org/drawingml/2006/main">
            <a:defPPr algn="ctr">
              <a:defRPr sz="18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C74E76-90A0-4B9B-8FC0-E7FC3AD8A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57450"/>
            <a:ext cx="1952625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8D7C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CF4C42-F687-4BD5-ACE0-572135F4A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47950"/>
            <a:ext cx="85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161"/>
          </a:bodyPr>
          <a:lstStyle xmlns:a="http://schemas.openxmlformats.org/drawingml/2006/main">
            <a:defPPr algn="l">
              <a:defRPr sz="23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3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3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3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3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3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3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3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3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3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3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pPr>
            <a:r>
              <a:rPr sz="23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rPr>
              <a:t>42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9476F9-85CC-4822-99F5-17506CBB1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432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rPr>
              <a:t>Visit scheduled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F6DE50-A9BD-447C-AAFD-777D5801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80035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35648"/>
          </a:bodyPr>
          <a:lstStyle xmlns:a="http://schemas.openxmlformats.org/drawingml/2006/main">
            <a:defPPr algn="ctr">
              <a:defRPr sz="18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2DF695-6ADA-464B-B9AA-905FB120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57450"/>
            <a:ext cx="1952625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D9B7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2627F0-0BA7-433B-B1BD-42B78C89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47950"/>
            <a:ext cx="85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161"/>
          </a:bodyPr>
          <a:lstStyle xmlns:a="http://schemas.openxmlformats.org/drawingml/2006/main">
            <a:defPPr algn="l">
              <a:defRPr sz="23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3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3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3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3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3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3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3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3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3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3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pPr>
            <a:r>
              <a:rPr sz="232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rPr>
              <a:t>28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2A7F69-94B5-4161-9872-AAC91AE94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432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rPr>
              <a:t>Negotiation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3B361D-2D83-4511-A091-43AD9CCC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80035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35648"/>
          </a:bodyPr>
          <a:lstStyle xmlns:a="http://schemas.openxmlformats.org/drawingml/2006/main">
            <a:defPPr algn="ctr">
              <a:defRPr sz="18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2BEC1D-A5E2-4C33-956C-6FF697B4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57450"/>
            <a:ext cx="1952625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3979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4A243F-D87E-4E5F-9D4E-E91557FA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47950"/>
            <a:ext cx="85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161"/>
          </a:bodyPr>
          <a:lstStyle xmlns:a="http://schemas.openxmlformats.org/drawingml/2006/main">
            <a:defPPr algn="l">
              <a:defRPr sz="2325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325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325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325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325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325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325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325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325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325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325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2325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B901AB-3454-4B36-93BF-4A3EC1F4F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432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 i="0">
                <a:solidFill>
                  <a:srgbClr val="D9E9E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 i="0">
                <a:solidFill>
                  <a:srgbClr val="D9E9E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 i="0">
                <a:solidFill>
                  <a:srgbClr val="D9E9E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 i="0">
                <a:solidFill>
                  <a:srgbClr val="D9E9E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 i="0">
                <a:solidFill>
                  <a:srgbClr val="D9E9E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 i="0">
                <a:solidFill>
                  <a:srgbClr val="D9E9E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 i="0">
                <a:solidFill>
                  <a:srgbClr val="D9E9E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 i="0">
                <a:solidFill>
                  <a:srgbClr val="D9E9E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 i="0">
                <a:solidFill>
                  <a:srgbClr val="D9E9E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 i="0">
                <a:solidFill>
                  <a:srgbClr val="D9E9E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 i="0">
                <a:solidFill>
                  <a:srgbClr val="D9E9E3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 i="0">
                <a:solidFill>
                  <a:srgbClr val="D9E9E3"/>
                </a:solidFill>
                <a:latin typeface="Leelawadee UI"/>
                <a:ea typeface="Leelawadee UI"/>
                <a:cs typeface="Leelawadee UI"/>
              </a:rPr>
              <a:t>Booked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6FD16E-B48B-44FE-BC05-7404F43FD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5143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CED29E-4153-4DEC-BA19-59373EEB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57675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rPr>
              <a:t>ONLINE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5B7E76-4929-4E66-9CB4-BEB97CAC3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19575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rPr>
              <a:t>Website · Meta · Google · TikTok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3937CF-5312-4117-89E6-5FC6F166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505325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>
            <a:defPPr algn="l">
              <a:defRPr sz="7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7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7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7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7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7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7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7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7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7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7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pPr>
            <a:r>
              <a:rPr sz="7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rPr>
              <a:t>SLA: contact ≤ 15 min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80B857-F9AF-4025-8DB7-1DF50AAF5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95750"/>
            <a:ext cx="5143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77344D-29E0-4BE5-91ED-3824C479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257675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rPr>
              <a:t>OFFLINE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9492E4-1A1C-4E65-9273-9B782DEC8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219575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rPr>
              <a:t>Sales booth · Event · Walk-in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1D9CDE-4441-4D1F-88EF-EA13FEC8B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505325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>
            <a:defPPr algn="l">
              <a:defRPr sz="7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7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7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7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7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7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7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7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7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7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7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pPr>
            <a:r>
              <a:rPr sz="7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rPr>
              <a:t>ASSIGN OWNER + FOLLOW-UP DATE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2FBF69-0E2F-4DDB-B7B3-1DEAE95CC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72050"/>
            <a:ext cx="5143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39ADEE-B52C-4D79-9CF4-8CA29771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33975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rPr>
              <a:t>PARTNER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7E2903-592C-4FC2-85D1-AC2C1DF7A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95875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rPr>
              <a:t>Broker · Agent network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77390F9-E5F3-4159-A86D-F07750F7E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381625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>
            <a:defPPr algn="l">
              <a:defRPr sz="7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7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7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7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7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7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7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7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7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7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7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pPr>
            <a:r>
              <a:rPr sz="7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rPr>
              <a:t>ASSIGN OWNER + FOLLOW-UP DATE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D3FD553-9893-47DD-98B1-A714F489A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972050"/>
            <a:ext cx="5143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2710DD7-A25E-423E-8967-C23F54805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133975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rPr>
              <a:t>ORGANIC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633C4F2-8324-4847-A281-2B26B65C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5095875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rPr>
              <a:t>Referral · Existing customer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8C5AD9D-1938-48C8-822D-7DE2826CF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5381625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>
            <a:defPPr algn="l">
              <a:defRPr sz="7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7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7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7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7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7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7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7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7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7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7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pPr>
            <a:r>
              <a:rPr sz="7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rPr>
              <a:t>ASSIGN OWNER + FOLLOW-UP DATE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A33910D-CA5C-4216-B293-13C36EF37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7239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519"/>
          </a:bodyPr>
          <a:lstStyle xmlns:a="http://schemas.openxmlformats.org/drawingml/2006/main">
            <a:defPPr algn="l"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pPr>
            <a:r>
              <a: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rPr>
              <a:t>AROM JOMTIEN · DIGITAL SALES COMMAND CENTER · CONCEPT DEMO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3E71DC3-DB55-4360-A63C-0145E6958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r"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554283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CB057E3-84EF-405C-9433-4666ABDD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rPr>
              <a:t>06 · SALES FOLLOW-UP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A1F43A-D11D-4532-B7F1-39B7D5ED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pPr>
            <a:r>
              <a: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rPr>
              <a:t>หัวหน้าเห็นว่าใครกำลังทำอะไรกับลูกค้าคนไหน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C5EE6F-41DE-450C-A2CA-3D5DEC60C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rPr>
              <a:t>สถานะสำคัญควรเป็น field ที่รายงานได้ ไม่ใช่ข้อความกระจัดกระจายในแชต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0F2F3D-0CD6-4AAA-8117-52AA8EDC2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2019300" cy="259080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EAF19F-B819-46A9-94EE-2732F9AB2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24125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825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rPr>
              <a:t>CUSTOMER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1180A0-8A6F-44CC-AAC2-D9BF7CF5E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9085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pPr>
            <a:r>
              <a: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rPr>
              <a:t>Demo Buyer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E5CEAC-1ADA-431B-B7C8-2E12503BB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1676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6FB908-F4B5-4472-84CC-138911FA3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8140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pPr>
            <a:r>
              <a: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rPr>
              <a:t>Michael Tan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11E4DD-DA69-47C1-859E-9FBB2DFB7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10025"/>
            <a:ext cx="1676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81CCF0-0142-4A20-AA18-4B694717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pPr>
            <a:r>
              <a: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rPr>
              <a:t>Chanya 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994AB0-47E0-451F-AF3B-69CAB0495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333625"/>
            <a:ext cx="2019300" cy="259080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5BEC55-6250-4FDE-8630-BECA1930C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524125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825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rPr>
              <a:t>OWNER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C471D7-EB4B-4195-A11D-E06A80D5A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99085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pPr>
            <a:r>
              <a: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rPr>
              <a:t>Unassigned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DC7BC3-3292-4F35-9B74-8C0321E3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419475"/>
            <a:ext cx="1676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3C5790-FBFC-454A-AB5D-70DA4AB13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58140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pPr>
            <a:r>
              <a: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rPr>
              <a:t>Krit 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B07F3D-3E7E-4992-B000-C83EF598A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010025"/>
            <a:ext cx="1676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26B0B9-7BF2-4B35-BE35-9BA2C09D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17195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pPr>
            <a:r>
              <a: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rPr>
              <a:t>Pim 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840D6C-DD71-4DBD-905A-18CA8773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33625"/>
            <a:ext cx="2019300" cy="259080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BA34E4-338A-4F2C-9D5D-6ACA94A9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524125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825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rPr>
              <a:t>NEXT ACTION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7B3B5D-5EF0-4502-8F12-DE6AEA2D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99085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pPr>
            <a:r>
              <a: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rPr>
              <a:t>Call ≤ 15 min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DF114B-3E2E-412E-8240-0B3A142E8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419475"/>
            <a:ext cx="1676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8EB9ED-EECF-478A-A7F7-D5D4D5AAE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58140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pPr>
            <a:r>
              <a: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rPr>
              <a:t>Bank documents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589275-A5ED-4B3A-9327-913DA0C0A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010025"/>
            <a:ext cx="1676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388E14-1EE2-494E-BD2C-7883843E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17195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pPr>
            <a:r>
              <a: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rPr>
              <a:t>Site visit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BD5EA3-AB5A-494F-ABCB-31EBC5C6C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33625"/>
            <a:ext cx="2019300" cy="259080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A8393F-F92C-4070-AE13-6670D20F3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24125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825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rPr>
              <a:t>BANK STATUS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C7CD66-5ACC-4CF6-92C9-45399A110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99085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pPr>
            <a:r>
              <a: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rPr>
              <a:t>Not started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221380-EA54-454D-BFE3-962A7694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419475"/>
            <a:ext cx="1676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5ED119-6BB9-467F-834F-A8AB24E73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58140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pPr>
            <a:r>
              <a: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rPr>
              <a:t>Loan pending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4EBDED-E0D0-48FA-BCCF-AFD3ECFF2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010025"/>
            <a:ext cx="1676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9AAF7B-2896-42B9-A94F-B349214B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17195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pPr>
            <a:r>
              <a: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rPr>
              <a:t>Pre-approved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1FD348-3241-498D-9C2F-E15A4ED3D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33625"/>
            <a:ext cx="2019300" cy="259080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9E52DEF-70A4-463B-BCFF-F613EF981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524125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825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rPr>
              <a:t>UNIT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FCE71A-31E6-4B56-8579-1D3BED4FB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99085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pPr>
            <a:r>
              <a: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rPr>
              <a:t>Not selected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DB09886-D1CB-45E9-B35C-B43EB6270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419475"/>
            <a:ext cx="1676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3033523-115F-4F92-889E-0530AB67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8140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pPr>
            <a:r>
              <a: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rPr>
              <a:t>12A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20EDA7C-245A-4406-8366-859E02655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010025"/>
            <a:ext cx="1676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EBFC5EF-F187-474A-B0F4-A56A1846F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17195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pPr>
            <a:r>
              <a:rPr sz="1200" b="0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rPr>
              <a:t>18C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B2C70FB-8B1D-47A1-B9F3-E647C9ACE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476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rPr>
              <a:t>MANAGER ALERTS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5901D07-D12F-4E46-BFE0-4A7D94AB7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276850"/>
            <a:ext cx="1200150" cy="295275"/>
          </a:xfrm>
          <a:prstGeom xmlns:a="http://schemas.openxmlformats.org/drawingml/2006/main" prst="roundRect">
            <a:avLst>
              <a:gd name="adj" fmla="val 38710"/>
            </a:avLst>
          </a:prstGeom>
          <a:solidFill xmlns:a="http://schemas.openxmlformats.org/drawingml/2006/main">
            <a:srgbClr val="F2DD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825" b="1" i="0">
                <a:solidFill>
                  <a:srgbClr val="8D4F4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825" b="1" i="0">
                <a:solidFill>
                  <a:srgbClr val="8D4F4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825" b="1" i="0">
                <a:solidFill>
                  <a:srgbClr val="8D4F4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825" b="1" i="0">
                <a:solidFill>
                  <a:srgbClr val="8D4F4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825" b="1" i="0">
                <a:solidFill>
                  <a:srgbClr val="8D4F4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825" b="1" i="0">
                <a:solidFill>
                  <a:srgbClr val="8D4F4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825" b="1" i="0">
                <a:solidFill>
                  <a:srgbClr val="8D4F4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825" b="1" i="0">
                <a:solidFill>
                  <a:srgbClr val="8D4F4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825" b="1" i="0">
                <a:solidFill>
                  <a:srgbClr val="8D4F4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825" b="1" i="0">
                <a:solidFill>
                  <a:srgbClr val="8D4F4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825" b="1" i="0">
                <a:solidFill>
                  <a:srgbClr val="8D4F4A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1" i="0">
                <a:solidFill>
                  <a:srgbClr val="8D4F4A"/>
                </a:solidFill>
                <a:latin typeface="Leelawadee UI"/>
                <a:ea typeface="Leelawadee UI"/>
                <a:cs typeface="Leelawadee UI"/>
              </a:rPr>
              <a:t>No owner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5AE9F6B-488B-4BE8-9FAA-60ADDA6D8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5276850"/>
            <a:ext cx="1619250" cy="295275"/>
          </a:xfrm>
          <a:prstGeom xmlns:a="http://schemas.openxmlformats.org/drawingml/2006/main" prst="roundRect">
            <a:avLst>
              <a:gd name="adj" fmla="val 38710"/>
            </a:avLst>
          </a:prstGeom>
          <a:solidFill xmlns:a="http://schemas.openxmlformats.org/drawingml/2006/main">
            <a:srgbClr val="F2DD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825" b="1" i="0">
                <a:solidFill>
                  <a:srgbClr val="8D4F4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825" b="1" i="0">
                <a:solidFill>
                  <a:srgbClr val="8D4F4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825" b="1" i="0">
                <a:solidFill>
                  <a:srgbClr val="8D4F4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825" b="1" i="0">
                <a:solidFill>
                  <a:srgbClr val="8D4F4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825" b="1" i="0">
                <a:solidFill>
                  <a:srgbClr val="8D4F4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825" b="1" i="0">
                <a:solidFill>
                  <a:srgbClr val="8D4F4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825" b="1" i="0">
                <a:solidFill>
                  <a:srgbClr val="8D4F4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825" b="1" i="0">
                <a:solidFill>
                  <a:srgbClr val="8D4F4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825" b="1" i="0">
                <a:solidFill>
                  <a:srgbClr val="8D4F4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825" b="1" i="0">
                <a:solidFill>
                  <a:srgbClr val="8D4F4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825" b="1" i="0">
                <a:solidFill>
                  <a:srgbClr val="8D4F4A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1" i="0">
                <a:solidFill>
                  <a:srgbClr val="8D4F4A"/>
                </a:solidFill>
                <a:latin typeface="Leelawadee UI"/>
                <a:ea typeface="Leelawadee UI"/>
                <a:cs typeface="Leelawadee UI"/>
              </a:rPr>
              <a:t>Follow-up overdue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39A1F03-5286-45F6-AAD1-63CBA76B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276850"/>
            <a:ext cx="1285875" cy="295275"/>
          </a:xfrm>
          <a:prstGeom xmlns:a="http://schemas.openxmlformats.org/drawingml/2006/main" prst="roundRect">
            <a:avLst>
              <a:gd name="adj" fmla="val 38710"/>
            </a:avLst>
          </a:prstGeom>
          <a:solidFill xmlns:a="http://schemas.openxmlformats.org/drawingml/2006/main">
            <a:srgbClr val="D9EA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rPr>
              <a:t>Visit today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38F94C9-A86C-4E86-B884-20DC4FD0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276850"/>
            <a:ext cx="1695450" cy="295275"/>
          </a:xfrm>
          <a:prstGeom xmlns:a="http://schemas.openxmlformats.org/drawingml/2006/main" prst="roundRect">
            <a:avLst>
              <a:gd name="adj" fmla="val 38710"/>
            </a:avLst>
          </a:prstGeom>
          <a:solidFill xmlns:a="http://schemas.openxmlformats.org/drawingml/2006/main">
            <a:srgbClr val="F1E0C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825" b="1" i="0">
                <a:solidFill>
                  <a:srgbClr val="8A603B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825" b="1" i="0">
                <a:solidFill>
                  <a:srgbClr val="8A603B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825" b="1" i="0">
                <a:solidFill>
                  <a:srgbClr val="8A603B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825" b="1" i="0">
                <a:solidFill>
                  <a:srgbClr val="8A603B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825" b="1" i="0">
                <a:solidFill>
                  <a:srgbClr val="8A603B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825" b="1" i="0">
                <a:solidFill>
                  <a:srgbClr val="8A603B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825" b="1" i="0">
                <a:solidFill>
                  <a:srgbClr val="8A603B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825" b="1" i="0">
                <a:solidFill>
                  <a:srgbClr val="8A603B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825" b="1" i="0">
                <a:solidFill>
                  <a:srgbClr val="8A603B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825" b="1" i="0">
                <a:solidFill>
                  <a:srgbClr val="8A603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825" b="1" i="0">
                <a:solidFill>
                  <a:srgbClr val="8A603B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1" i="0">
                <a:solidFill>
                  <a:srgbClr val="8A603B"/>
                </a:solidFill>
                <a:latin typeface="Leelawadee UI"/>
                <a:ea typeface="Leelawadee UI"/>
                <a:cs typeface="Leelawadee UI"/>
              </a:rPr>
              <a:t>Bank docs missing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FD4EA60-E4CB-48D4-AA39-004DFC58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276850"/>
            <a:ext cx="1409700" cy="295275"/>
          </a:xfrm>
          <a:prstGeom xmlns:a="http://schemas.openxmlformats.org/drawingml/2006/main" prst="roundRect">
            <a:avLst>
              <a:gd name="adj" fmla="val 38710"/>
            </a:avLst>
          </a:prstGeom>
          <a:solidFill xmlns:a="http://schemas.openxmlformats.org/drawingml/2006/main">
            <a:srgbClr val="D9EA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rPr>
              <a:t>Ready to book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427F886-18CD-4E44-8006-B94E0DFA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7239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519"/>
          </a:bodyPr>
          <a:lstStyle xmlns:a="http://schemas.openxmlformats.org/drawingml/2006/main">
            <a:defPPr algn="l"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pPr>
            <a:r>
              <a: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rPr>
              <a:t>AROM JOMTIEN · DIGITAL SALES COMMAND CENTER · CONCEPT DEMO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015AAAE-3BBC-43DF-8D2F-754CAE712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r"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029520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33CD51-6CB3-45A0-A51C-9F98D521D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rPr>
              <a:t>07 · IPAD BOOKING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DB5443-0B47-4A20-9DA7-9B2DE1E77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pPr>
            <a:r>
              <a: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rPr>
              <a:t>แตะห้อง → ตรวจสถานะ → จอง → ออกใบจอง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FB6F47-37AC-4AC9-BAE6-E5E58AACA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rPr>
              <a:t>เดโม่ใช้ผังตัวอย่างและราคา/สถานะสมมติ เพื่อแสดง workflow บน iPad เพียงเครื่องเดียว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AA5504-DC58-4BB2-A754-5919984503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8800706b9b48fe"/>
          <a:srcRect xmlns:a="http://schemas.openxmlformats.org/drawingml/2006/main" l="28" t="0" r="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143125"/>
            <a:ext cx="7239000" cy="4076700"/>
          </a:xfrm>
          <a:prstGeom xmlns:a="http://schemas.openxmlformats.org/drawingml/2006/main" prst="roundRect">
            <a:avLst>
              <a:gd name="adj" fmla="val 2804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415EDF-634C-4663-8C11-2BBDFDE31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43125"/>
            <a:ext cx="32956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59AF60-3956-4A52-B45E-8D37F6CA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241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E1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357811-2F2D-486F-8950-D4F12A9A1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33625"/>
            <a:ext cx="419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48BD52-1349-44D1-8406-052C8A5EC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28600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>
            <a:defPPr algn="l"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pPr>
            <a:r>
              <a: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rPr>
              <a:t>Select unit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8868DE-36C7-449F-B68A-27F37320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552700"/>
            <a:ext cx="2238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rPr>
              <a:t>เลือก floor และห้อง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9C2ABD-99D5-4509-9D46-22D502B1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05150"/>
            <a:ext cx="32956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4E5305-1EE3-4942-8BB4-B79EA5BA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861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E1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072000-787F-4CE9-95D9-1953A53A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95650"/>
            <a:ext cx="419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C1EA0F-3934-46F2-9FBF-53F1A067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248025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>
            <a:defPPr algn="l"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pPr>
            <a:r>
              <a: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rPr>
              <a:t>Buyer + payment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F36634-CE13-46B1-AEEE-92B57076C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514725"/>
            <a:ext cx="2238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rPr>
              <a:t>ผูก lead และเงินจอง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C7D52D-7837-481A-83D3-B05BF76E5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67175"/>
            <a:ext cx="32956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1A9736-1954-494E-B166-6A9D36D09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48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E1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991B79-052F-44F9-B33C-B490F2091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57675"/>
            <a:ext cx="419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BCB477-4098-4220-8C0C-A30BFE4F9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21005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>
            <a:defPPr algn="l"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pPr>
            <a:r>
              <a: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rPr>
              <a:t>Finance status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F387A8-3318-4B29-A9F5-A7327A58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476750"/>
            <a:ext cx="2238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rPr>
              <a:t>Pending / pre-approved / cash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E9D1A0-55AB-4A3A-A246-38C917FA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029200"/>
            <a:ext cx="32956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23B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E3439F-8691-4DC7-8C6A-47CDB7725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2101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6DFC77-191C-4EC8-878A-D4338ABDB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219700"/>
            <a:ext cx="419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4EFDAB-5880-4E73-A570-284A2805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172075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>
            <a:defPPr algn="l">
              <a:defRPr sz="12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2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2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2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2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2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2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2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2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2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2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2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Receipt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86383C-6718-442A-A8BD-FB315BD1E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438775"/>
            <a:ext cx="2238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900" b="0" i="0">
                <a:solidFill>
                  <a:srgbClr val="D8E9E2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900" b="0" i="0">
                <a:solidFill>
                  <a:srgbClr val="D8E9E2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900" b="0" i="0">
                <a:solidFill>
                  <a:srgbClr val="D8E9E2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900" b="0" i="0">
                <a:solidFill>
                  <a:srgbClr val="D8E9E2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900" b="0" i="0">
                <a:solidFill>
                  <a:srgbClr val="D8E9E2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900" b="0" i="0">
                <a:solidFill>
                  <a:srgbClr val="D8E9E2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900" b="0" i="0">
                <a:solidFill>
                  <a:srgbClr val="D8E9E2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900" b="0" i="0">
                <a:solidFill>
                  <a:srgbClr val="D8E9E2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900" b="0" i="0">
                <a:solidFill>
                  <a:srgbClr val="D8E9E2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900" b="0" i="0">
                <a:solidFill>
                  <a:srgbClr val="D8E9E2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900" b="0" i="0">
                <a:solidFill>
                  <a:srgbClr val="D8E9E2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0" i="0">
                <a:solidFill>
                  <a:srgbClr val="D8E9E2"/>
                </a:solidFill>
                <a:latin typeface="Leelawadee UI"/>
                <a:ea typeface="Leelawadee UI"/>
                <a:cs typeface="Leelawadee UI"/>
              </a:rPr>
              <a:t>บันทึก local และพิมพ์ใบจอง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0796D7-C9B5-422F-AA61-D945D2D95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6000750"/>
            <a:ext cx="3143250" cy="295275"/>
          </a:xfrm>
          <a:prstGeom xmlns:a="http://schemas.openxmlformats.org/drawingml/2006/main" prst="roundRect">
            <a:avLst>
              <a:gd name="adj" fmla="val 38710"/>
            </a:avLst>
          </a:prstGeom>
          <a:solidFill xmlns:a="http://schemas.openxmlformats.org/drawingml/2006/main">
            <a:srgbClr val="F1E0C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825" b="1" i="0">
                <a:solidFill>
                  <a:srgbClr val="8A603B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825" b="1" i="0">
                <a:solidFill>
                  <a:srgbClr val="8A603B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825" b="1" i="0">
                <a:solidFill>
                  <a:srgbClr val="8A603B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825" b="1" i="0">
                <a:solidFill>
                  <a:srgbClr val="8A603B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825" b="1" i="0">
                <a:solidFill>
                  <a:srgbClr val="8A603B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825" b="1" i="0">
                <a:solidFill>
                  <a:srgbClr val="8A603B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825" b="1" i="0">
                <a:solidFill>
                  <a:srgbClr val="8A603B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825" b="1" i="0">
                <a:solidFill>
                  <a:srgbClr val="8A603B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825" b="1" i="0">
                <a:solidFill>
                  <a:srgbClr val="8A603B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825" b="1" i="0">
                <a:solidFill>
                  <a:srgbClr val="8A603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825" b="1" i="0">
                <a:solidFill>
                  <a:srgbClr val="8A603B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1" i="0">
                <a:solidFill>
                  <a:srgbClr val="8A603B"/>
                </a:solidFill>
                <a:latin typeface="Leelawadee UI"/>
                <a:ea typeface="Leelawadee UI"/>
                <a:cs typeface="Leelawadee UI"/>
              </a:rPr>
              <a:t>NO REAL CHARGE · LOCAL DEMO ONLY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072776-0209-44F3-A61F-C7E93F936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7239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519"/>
          </a:bodyPr>
          <a:lstStyle xmlns:a="http://schemas.openxmlformats.org/drawingml/2006/main">
            <a:defPPr algn="l"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pPr>
            <a:r>
              <a: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rPr>
              <a:t>AROM JOMTIEN · DIGITAL SALES COMMAND CENTER · CONCEPT DEMO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C37FD0-33E4-4B60-B7BC-ECB208F4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r"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836071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23B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390644C-581E-4362-A19F-3DA17DEF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9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9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9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9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9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9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9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9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9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9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9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rPr>
              <a:t>08 · TEAM &amp; GOVERNANCE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D642BE-B3F8-469C-8326-B7F120DB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315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315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315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315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315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315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315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315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315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315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315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315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ทีมสร้างเร็วได้ แต่สิทธิ์อนุมัติยังอยู่ที่หัวหน้า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E26038-3FA1-4B9D-9A97-03586B85D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BCD1C8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0" i="0">
                <a:solidFill>
                  <a:srgbClr val="BCD1C8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0" i="0">
                <a:solidFill>
                  <a:srgbClr val="BCD1C8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0" i="0">
                <a:solidFill>
                  <a:srgbClr val="BCD1C8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0" i="0">
                <a:solidFill>
                  <a:srgbClr val="BCD1C8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0" i="0">
                <a:solidFill>
                  <a:srgbClr val="BCD1C8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0" i="0">
                <a:solidFill>
                  <a:srgbClr val="BCD1C8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0" i="0">
                <a:solidFill>
                  <a:srgbClr val="BCD1C8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0" i="0">
                <a:solidFill>
                  <a:srgbClr val="BCD1C8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0" i="0">
                <a:solidFill>
                  <a:srgbClr val="BCD1C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0" i="0">
                <a:solidFill>
                  <a:srgbClr val="BCD1C8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 i="0">
                <a:solidFill>
                  <a:srgbClr val="BCD1C8"/>
                </a:solidFill>
                <a:latin typeface="Leelawadee UI"/>
                <a:ea typeface="Leelawadee UI"/>
                <a:cs typeface="Leelawadee UI"/>
              </a:rPr>
              <a:t>บทบาทชัด ลดงานย้อนกลับ และทำให้การเพิ่มงบมีเหตุผลจากข้อมูล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4ABC67-7290-4A25-9A6F-91B36B1AB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2571750" cy="224790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1B4A46"/>
          </a:solidFill>
          <a:ln xmlns:a="http://schemas.openxmlformats.org/drawingml/2006/main" w="9525">
            <a:solidFill>
              <a:srgbClr val="44706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1EA50F-946C-49BC-B8BB-FA244FE00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0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017A38-2283-43E6-9D36-416F3DE3E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051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HEAD OF MARKETING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153CCF-D6B4-4517-B216-04A9DFCBA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385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050" b="0" i="0">
                <a:solidFill>
                  <a:srgbClr val="BCD1C8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0" i="0">
                <a:solidFill>
                  <a:srgbClr val="BCD1C8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0" i="0">
                <a:solidFill>
                  <a:srgbClr val="BCD1C8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0" i="0">
                <a:solidFill>
                  <a:srgbClr val="BCD1C8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0" i="0">
                <a:solidFill>
                  <a:srgbClr val="BCD1C8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0" i="0">
                <a:solidFill>
                  <a:srgbClr val="BCD1C8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0" i="0">
                <a:solidFill>
                  <a:srgbClr val="BCD1C8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0" i="0">
                <a:solidFill>
                  <a:srgbClr val="BCD1C8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0" i="0">
                <a:solidFill>
                  <a:srgbClr val="BCD1C8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0" i="0">
                <a:solidFill>
                  <a:srgbClr val="BCD1C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0" i="0">
                <a:solidFill>
                  <a:srgbClr val="BCD1C8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0" i="0">
                <a:solidFill>
                  <a:srgbClr val="BCD1C8"/>
                </a:solidFill>
                <a:latin typeface="Leelawadee UI"/>
                <a:ea typeface="Leelawadee UI"/>
                <a:cs typeface="Leelawadee UI"/>
              </a:rPr>
              <a:t>Goal · Budget · Final approval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EA4F1A-3D53-4AC4-B43F-4339942FE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43150"/>
            <a:ext cx="2571750" cy="224790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1B4A46"/>
          </a:solidFill>
          <a:ln xmlns:a="http://schemas.openxmlformats.org/drawingml/2006/main" w="9525">
            <a:solidFill>
              <a:srgbClr val="44706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11C1F6-16DF-402A-97C7-BEAAA825D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5717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0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98E855-34EE-4C3A-998A-DFE05420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1051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STRATEGIST / MEDIA BUYER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9C3EA9-A122-4700-AD31-A21A1A116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8385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050" b="0" i="0">
                <a:solidFill>
                  <a:srgbClr val="BCD1C8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0" i="0">
                <a:solidFill>
                  <a:srgbClr val="BCD1C8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0" i="0">
                <a:solidFill>
                  <a:srgbClr val="BCD1C8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0" i="0">
                <a:solidFill>
                  <a:srgbClr val="BCD1C8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0" i="0">
                <a:solidFill>
                  <a:srgbClr val="BCD1C8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0" i="0">
                <a:solidFill>
                  <a:srgbClr val="BCD1C8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0" i="0">
                <a:solidFill>
                  <a:srgbClr val="BCD1C8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0" i="0">
                <a:solidFill>
                  <a:srgbClr val="BCD1C8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0" i="0">
                <a:solidFill>
                  <a:srgbClr val="BCD1C8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0" i="0">
                <a:solidFill>
                  <a:srgbClr val="BCD1C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0" i="0">
                <a:solidFill>
                  <a:srgbClr val="BCD1C8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0" i="0">
                <a:solidFill>
                  <a:srgbClr val="BCD1C8"/>
                </a:solidFill>
                <a:latin typeface="Leelawadee UI"/>
                <a:ea typeface="Leelawadee UI"/>
                <a:cs typeface="Leelawadee UI"/>
              </a:rPr>
              <a:t>Audience · Tracking · Optimize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95CD02-32D5-4DF7-9DFA-81A22FE8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43150"/>
            <a:ext cx="2571750" cy="224790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1B4A46"/>
          </a:solidFill>
          <a:ln xmlns:a="http://schemas.openxmlformats.org/drawingml/2006/main" w="9525">
            <a:solidFill>
              <a:srgbClr val="44706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1E393B-5158-49B7-8C5F-AB8AEDB4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717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0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59D71C-AE80-4E4F-830E-D9B8B231B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051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CONTENT LEAD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1CA285-F14C-497C-9BEF-FAD4AC493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385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050" b="0" i="0">
                <a:solidFill>
                  <a:srgbClr val="BCD1C8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0" i="0">
                <a:solidFill>
                  <a:srgbClr val="BCD1C8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0" i="0">
                <a:solidFill>
                  <a:srgbClr val="BCD1C8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0" i="0">
                <a:solidFill>
                  <a:srgbClr val="BCD1C8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0" i="0">
                <a:solidFill>
                  <a:srgbClr val="BCD1C8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0" i="0">
                <a:solidFill>
                  <a:srgbClr val="BCD1C8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0" i="0">
                <a:solidFill>
                  <a:srgbClr val="BCD1C8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0" i="0">
                <a:solidFill>
                  <a:srgbClr val="BCD1C8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0" i="0">
                <a:solidFill>
                  <a:srgbClr val="BCD1C8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0" i="0">
                <a:solidFill>
                  <a:srgbClr val="BCD1C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0" i="0">
                <a:solidFill>
                  <a:srgbClr val="BCD1C8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0" i="0">
                <a:solidFill>
                  <a:srgbClr val="BCD1C8"/>
                </a:solidFill>
                <a:latin typeface="Leelawadee UI"/>
                <a:ea typeface="Leelawadee UI"/>
                <a:cs typeface="Leelawadee UI"/>
              </a:rPr>
              <a:t>Pillar · Script · Copy · Brief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9E8F70-500F-4C0E-831E-94998C050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343150"/>
            <a:ext cx="2571750" cy="224790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1B4A46"/>
          </a:solidFill>
          <a:ln xmlns:a="http://schemas.openxmlformats.org/drawingml/2006/main" w="9525">
            <a:solidFill>
              <a:srgbClr val="44706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2FDACE-CC41-4B6F-AEFA-DC5624C09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717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0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F86A28-E8B4-4A08-BC64-5C112E57A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051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DESIGNER / EDITOR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8492F3-8594-4C8C-A491-279B3CE61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385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050" b="0" i="0">
                <a:solidFill>
                  <a:srgbClr val="BCD1C8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0" i="0">
                <a:solidFill>
                  <a:srgbClr val="BCD1C8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0" i="0">
                <a:solidFill>
                  <a:srgbClr val="BCD1C8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0" i="0">
                <a:solidFill>
                  <a:srgbClr val="BCD1C8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0" i="0">
                <a:solidFill>
                  <a:srgbClr val="BCD1C8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0" i="0">
                <a:solidFill>
                  <a:srgbClr val="BCD1C8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0" i="0">
                <a:solidFill>
                  <a:srgbClr val="BCD1C8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0" i="0">
                <a:solidFill>
                  <a:srgbClr val="BCD1C8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0" i="0">
                <a:solidFill>
                  <a:srgbClr val="BCD1C8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0" i="0">
                <a:solidFill>
                  <a:srgbClr val="BCD1C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0" i="0">
                <a:solidFill>
                  <a:srgbClr val="BCD1C8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0" i="0">
                <a:solidFill>
                  <a:srgbClr val="BCD1C8"/>
                </a:solidFill>
                <a:latin typeface="Leelawadee UI"/>
                <a:ea typeface="Leelawadee UI"/>
                <a:cs typeface="Leelawadee UI"/>
              </a:rPr>
              <a:t>Static · Video · Variants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F4FB75-D1CF-4706-BA3F-458D5E0F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91125"/>
            <a:ext cx="15621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75A5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9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9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9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9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9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9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9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9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9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9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BRIEF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B7B31E-E047-4A07-894A-D199C4A30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238750"/>
            <a:ext cx="238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35253"/>
          </a:bodyPr>
          <a:lstStyle xmlns:a="http://schemas.openxmlformats.org/drawingml/2006/main">
            <a:defPPr algn="ctr">
              <a:defRPr sz="13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AB5DF5-928B-4B62-89D2-685C9BE2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191125"/>
            <a:ext cx="15621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75A5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9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9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9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9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9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9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9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9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9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9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CONTENT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28E1F0-D510-41A8-8DF6-69C016C5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238750"/>
            <a:ext cx="238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35253"/>
          </a:bodyPr>
          <a:lstStyle xmlns:a="http://schemas.openxmlformats.org/drawingml/2006/main">
            <a:defPPr algn="ctr">
              <a:defRPr sz="13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D034FE-2F64-4011-A4D0-C44371BAF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191125"/>
            <a:ext cx="15621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75A5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9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9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9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9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9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9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9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9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9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9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DESIGN / VIDEO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2D9BB3-C41E-482E-8D11-5CAED2012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238750"/>
            <a:ext cx="238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35253"/>
          </a:bodyPr>
          <a:lstStyle xmlns:a="http://schemas.openxmlformats.org/drawingml/2006/main">
            <a:defPPr algn="ctr">
              <a:defRPr sz="13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7EA446-030E-42CC-A253-3921A459B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191125"/>
            <a:ext cx="15621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09A7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00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900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900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900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900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900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900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900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900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900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900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rPr>
              <a:t>HEAD APPROVES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161CF2-646E-48D8-BE4B-4C66091EA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238750"/>
            <a:ext cx="238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35253"/>
          </a:bodyPr>
          <a:lstStyle xmlns:a="http://schemas.openxmlformats.org/drawingml/2006/main">
            <a:defPPr algn="ctr">
              <a:defRPr sz="13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AD4522-5EE4-4C64-B5C9-027345719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191125"/>
            <a:ext cx="15621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75A5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9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9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9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9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9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9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9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9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9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9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LAUNCH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02CF86-4655-4C7B-809E-DF51AE5A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238750"/>
            <a:ext cx="238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35253"/>
          </a:bodyPr>
          <a:lstStyle xmlns:a="http://schemas.openxmlformats.org/drawingml/2006/main">
            <a:defPPr algn="ctr">
              <a:defRPr sz="13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795242-6D3E-4CCE-AB48-807C6026E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191125"/>
            <a:ext cx="15621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09A7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00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900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900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900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900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900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900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900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900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900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900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rPr>
              <a:t>HEAD REVIEWS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C701C8-32D4-4492-8BE6-0EC79EFA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>
            <a:defPPr algn="l">
              <a:defRPr sz="750" b="1" i="0">
                <a:solidFill>
                  <a:srgbClr val="9CBAB0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750" b="1" i="0">
                <a:solidFill>
                  <a:srgbClr val="9CBAB0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750" b="1" i="0">
                <a:solidFill>
                  <a:srgbClr val="9CBAB0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750" b="1" i="0">
                <a:solidFill>
                  <a:srgbClr val="9CBAB0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750" b="1" i="0">
                <a:solidFill>
                  <a:srgbClr val="9CBAB0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750" b="1" i="0">
                <a:solidFill>
                  <a:srgbClr val="9CBAB0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750" b="1" i="0">
                <a:solidFill>
                  <a:srgbClr val="9CBAB0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750" b="1" i="0">
                <a:solidFill>
                  <a:srgbClr val="9CBAB0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750" b="1" i="0">
                <a:solidFill>
                  <a:srgbClr val="9CBAB0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750" b="1" i="0">
                <a:solidFill>
                  <a:srgbClr val="9CBAB0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750" b="1" i="0">
                <a:solidFill>
                  <a:srgbClr val="9CBAB0"/>
                </a:solidFill>
                <a:latin typeface="Leelawadee UI"/>
                <a:ea typeface="Leelawadee UI"/>
                <a:cs typeface="Leelawadee UI"/>
              </a:defRPr>
            </a:pPr>
            <a:r>
              <a:rPr sz="750" b="1" i="0">
                <a:solidFill>
                  <a:srgbClr val="9CBAB0"/>
                </a:solidFill>
                <a:latin typeface="Leelawadee UI"/>
                <a:ea typeface="Leelawadee UI"/>
                <a:cs typeface="Leelawadee UI"/>
              </a:rPr>
              <a:t>DEMO OPERATING MODEL · ADAPT ROLES TO ACTUAL TEAM SIZE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B7BC78-6520-4247-8ED2-766405035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7239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519"/>
          </a:bodyPr>
          <a:lstStyle xmlns:a="http://schemas.openxmlformats.org/drawingml/2006/main">
            <a:defPPr algn="l"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pPr>
            <a:r>
              <a: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rPr>
              <a:t>AROM JOMTIEN · DIGITAL SALES COMMAND CENTER · CONCEPT DEMO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C819C0-EA64-4DAB-99D3-3BE0551B2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r"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335107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D1869A-9498-42D0-87E3-2C265A79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 i="0">
                <a:solidFill>
                  <a:srgbClr val="1E6B63"/>
                </a:solidFill>
                <a:latin typeface="Leelawadee UI"/>
                <a:ea typeface="Leelawadee UI"/>
                <a:cs typeface="Leelawadee UI"/>
              </a:rPr>
              <a:t>09 · LIVE DEMO WALKTHROUGH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104FDC-D6F1-47B4-8D9E-51531583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pPr>
            <a:r>
              <a:rPr sz="315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rPr>
              <a:t>เส้นทางสาธิตที่ใช้เวลาไม่เกิน 7 นาที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DE8E10-3C97-4EB8-A609-77E4A48F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rPr>
              <a:t>เดโม่ติดตั้งอยู่บนเครื่องนี้แล้ว และเปิดจาก run-demo.ps1 หรือ local server ที่ port 4173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774B9B-6FFB-4710-A96C-6D65840188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b45b8092e64987"/>
          <a:srcRect xmlns:a="http://schemas.openxmlformats.org/drawingml/2006/main" l="0" t="12" r="0" b="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238375"/>
            <a:ext cx="5619750" cy="3162300"/>
          </a:xfrm>
          <a:prstGeom xmlns:a="http://schemas.openxmlformats.org/drawingml/2006/main" prst="roundRect">
            <a:avLst>
              <a:gd name="adj" fmla="val 3614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920E9F-314E-4382-9CFC-62B68E420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43125"/>
            <a:ext cx="22098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EA5AF4-BA9F-484B-B090-F2FA6F0A8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2860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>
            <a:defPPr algn="l"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24069D-462A-471D-AFA4-95C23F44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57425"/>
            <a:ext cx="1504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>
            <a:defPPr algn="l"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pPr>
            <a:r>
              <a: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rPr>
              <a:t>Command Center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946614-0BA2-4DDD-A937-637B75FE7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600325"/>
            <a:ext cx="1866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rPr>
              <a:t>อธิบาย customer journey + ทีม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D7F56D-4D4D-4E80-9ACE-401E41E05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43125"/>
            <a:ext cx="22098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FC1942-D11D-4C7F-9499-E840EFCC1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860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>
            <a:defPPr algn="l"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B7B9B2-41B3-4778-9745-0144F821E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57425"/>
            <a:ext cx="1504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>
            <a:defPPr algn="l"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pPr>
            <a:r>
              <a: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rPr>
              <a:t>Marketing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E5162E-03A4-41A0-960A-41ECDABB0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00325"/>
            <a:ext cx="1866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rPr>
              <a:t>กรอง Meta แล้วอ่าน CPL / ROAS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B52EF3-AF4D-4CB1-B994-D86D7534A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57550"/>
            <a:ext cx="22098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FC3384-A443-4569-A944-B18EF491D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4004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>
            <a:defPPr algn="l"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1E8FB4-5CED-4779-9261-A8FFC09A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371850"/>
            <a:ext cx="1504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>
            <a:defPPr algn="l"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pPr>
            <a:r>
              <a: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rPr>
              <a:t>Website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A8D32C-9481-4DC7-8D55-86169674D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714750"/>
            <a:ext cx="1866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rPr>
              <a:t>กรอก demo lead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F1E250-23BE-42E0-A519-004F8F45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57550"/>
            <a:ext cx="22098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E42FB9-9869-4158-AD9D-5362A725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4004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>
            <a:defPPr algn="l"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66FFA8-A7F8-4A95-9274-00B5D78D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371850"/>
            <a:ext cx="1504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>
            <a:defPPr algn="l"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pPr>
            <a:r>
              <a: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rPr>
              <a:t>CRM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7DA979-A73A-49F4-9BB3-20F9C9953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714750"/>
            <a:ext cx="1866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rPr>
              <a:t>เห็น lead ใหม่ + assign owner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5D523C-F7EC-4BE1-9304-D2F24C6E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71975"/>
            <a:ext cx="22098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699211-F244-4B26-885D-DD233BE75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5148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>
            <a:defPPr algn="l"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222AB4-9F7D-42A8-A50D-7BDDA1640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486275"/>
            <a:ext cx="1504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>
            <a:defPPr algn="l"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pPr>
            <a:r>
              <a: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rPr>
              <a:t>Inventory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5B5D55-2620-4537-B627-FD62FE99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829175"/>
            <a:ext cx="1866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rPr>
              <a:t>เลือกห้องและจองจำลอง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18D5C6-D06F-492A-8266-B20E906D9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371975"/>
            <a:ext cx="22098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AF60F1-9953-45DD-92AE-C68BC712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5148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>
            <a:defPPr algn="l"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1" i="0">
                <a:solidFill>
                  <a:srgbClr val="C09A70"/>
                </a:solidFill>
                <a:latin typeface="Leelawadee UI"/>
                <a:ea typeface="Leelawadee UI"/>
                <a:cs typeface="Leelawadee UI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4F8ACE-213B-4E43-BAE2-67AF696AC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86275"/>
            <a:ext cx="1504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>
            <a:defPPr algn="l"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pPr>
            <a:r>
              <a:rPr sz="1200" b="1" i="0">
                <a:solidFill>
                  <a:srgbClr val="132623"/>
                </a:solidFill>
                <a:latin typeface="Leelawadee UI"/>
                <a:ea typeface="Leelawadee UI"/>
                <a:cs typeface="Leelawadee UI"/>
              </a:rPr>
              <a:t>Receipt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D51563-9BDB-4C7D-8526-4696F97D4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829175"/>
            <a:ext cx="1866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0" i="0">
                <a:solidFill>
                  <a:srgbClr val="66736F"/>
                </a:solidFill>
                <a:latin typeface="Leelawadee UI"/>
                <a:ea typeface="Leelawadee UI"/>
                <a:cs typeface="Leelawadee UI"/>
              </a:rPr>
              <a:t>พิมพ์ใบจอง · ไม่มีการตัดเงินจริง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098706-2227-43EB-B892-253A08D85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24525"/>
            <a:ext cx="108394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123B3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75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275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275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275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275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275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275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275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275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275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275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NEXT: connect real Meta/Google data → configure PDPA consent → role permissions → payment gateway sandbox → UAT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D488E4-3046-4C50-A3B2-256374AB2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7239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519"/>
          </a:bodyPr>
          <a:lstStyle xmlns:a="http://schemas.openxmlformats.org/drawingml/2006/main">
            <a:defPPr algn="l"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pPr>
            <a:r>
              <a:rPr sz="675" b="1" i="0">
                <a:solidFill>
                  <a:srgbClr val="84918D"/>
                </a:solidFill>
                <a:latin typeface="Leelawadee UI"/>
                <a:ea typeface="Leelawadee UI"/>
                <a:cs typeface="Leelawadee UI"/>
              </a:rPr>
              <a:t>AROM JOMTIEN · DIGITAL SALES COMMAND CENTER · CONCEPT DEMO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480D64-E5F0-45ED-B388-B2F35C653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r"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1" i="0">
                <a:solidFill>
                  <a:srgbClr val="123B39"/>
                </a:solidFill>
                <a:latin typeface="Leelawadee UI"/>
                <a:ea typeface="Leelawadee UI"/>
                <a:cs typeface="Leelawadee U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927925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3AB9035-D673-4150-B3C9-A2E6B3B9A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00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00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00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00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00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00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00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00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00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rPr>
              <a:t>10 · MENU GUIDE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2EAA55-7938-4670-86DC-2C224C77A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0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30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30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30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30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30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30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30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30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30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pPr>
            <a:r>
              <a:rPr sz="30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rPr>
              <a:t>เมนู Command Center และ Marketing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BB7F34-08C0-41DF-A09A-E0978541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35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35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35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35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35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35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35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35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35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rPr>
              <a:t>ผู้บริหารใช้หน้าแรกเพื่อดูภาพรวม ส่วนทีมการตลาดใช้ dashboard เพื่อวิเคราะห์และปรับงบ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C5BEA6-0642-4B43-A87A-D671746E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00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00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00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00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00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00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00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00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00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rPr>
              <a:t>COMMAND CENTER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CD80E3-81D3-4DF5-B96E-F3A790D2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51244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C7EA3C-0AB8-4D45-A55F-FEF240C4C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6222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rPr>
              <a:t>OVERVIEW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C039F8-CD3D-45E9-BE7E-EC076A9AB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533650"/>
            <a:ext cx="3571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rPr>
              <a:t>ภาพรวมธุรกิจ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459CE1-77F7-49F1-AE3A-AC1EC1F1E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790825"/>
            <a:ext cx="3571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rPr>
              <a:t>Spend · Leads · Bookings · ROAS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9DBB91-F15E-42ED-AE0D-F66C2412E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51244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384ECA-B1E4-4662-8603-DB9D2311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042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rPr>
              <a:t>JOURNEY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17E23B-43C4-4109-8832-3FE7866AC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371850"/>
            <a:ext cx="3571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rPr>
              <a:t>เส้นทางลูกค้า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0DE5F5-310A-4391-96F3-0E06F60F7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629025"/>
            <a:ext cx="3571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rPr>
              <a:t>Media · Lead · Visit · Booking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EB8DC3-9124-4D12-BFF4-F0268340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51244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35C05C-2E23-4570-9B51-1A5AA3D83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rPr>
              <a:t>TEAM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CF60D0-ACBC-4C8B-AD17-C1501503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210050"/>
            <a:ext cx="3571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rPr>
              <a:t>ทีมและจุดอนุมัติ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35252D-4C5B-4391-943C-C19B7D82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467225"/>
            <a:ext cx="3571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rPr>
              <a:t>เจ้าของงาน · งบ · creative · scale / pause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6DB48F-AED3-4B92-B250-3EBE8F75F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51244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A6AA78-E0AF-439F-B00C-DE66C252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7682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rPr>
              <a:t>GLOSSARY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F19CA6-D0E8-4C54-8AAB-4D618DCC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048250"/>
            <a:ext cx="3571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rPr>
              <a:t>คำศัพท์สำคัญ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24273E-FCDC-4A39-9A5B-389C2996E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305425"/>
            <a:ext cx="3571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rPr>
              <a:t>CTR · CPC · CPL · CPV · ROAS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B0844A-7A2E-473D-8B77-0486CA007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33600"/>
            <a:ext cx="531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00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00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00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00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00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00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00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00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00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rPr>
              <a:t>MARKETING INTELLIGENCE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DBF5DA-32D6-490D-91E9-36896FE7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19350"/>
            <a:ext cx="53149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2F413D-EBBF-4726-8DB2-08804FA0C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6222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rPr>
              <a:t>OVERVIEW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13E8CE-837C-4545-8A57-E9AA2B991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533650"/>
            <a:ext cx="3762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rPr>
              <a:t>KPI หลัก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2875F9-6928-4649-8FBD-94E81AA7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790825"/>
            <a:ext cx="3762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rPr>
              <a:t>Ad spend · Impressions · Clicks · Leads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D3D02A-4E42-47B8-A6E8-4DFB57446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57550"/>
            <a:ext cx="53149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F2D0CF-B604-4081-A214-205D7268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0042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rPr>
              <a:t>ANALYTICS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67DD9C-DBC2-4E88-8AA6-A48BF3D9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371850"/>
            <a:ext cx="3762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rPr>
              <a:t>แนวโน้มตามเวลา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F27CBB-C0CB-40EC-843E-6F7184701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629025"/>
            <a:ext cx="3762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rPr>
              <a:t>กรอง 7 / 30 / 90 วัน และแยก channel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EA1089-644E-4DE4-9561-38098129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53149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DD297C-0301-4230-B3B2-BD9094D8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3862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rPr>
              <a:t>CAMPAIGNS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59B985-B9C9-4BEB-96AB-DDFEE58E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210050"/>
            <a:ext cx="3762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rPr>
              <a:t>ตารางแคมเปญ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160656-3C19-4483-B5AE-DE938525D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467225"/>
            <a:ext cx="3762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rPr>
              <a:t>Spend · CPL · Status · ผลลัพธ์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390B81-9A2A-4FEA-ADF0-166A25E3D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33950"/>
            <a:ext cx="53149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8BA93D1-B14E-4E61-AC6A-691D1AACF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07682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rPr>
              <a:t>FUNNEL / CHANNEL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AB87CCF-74DA-4EBE-9F4B-A9575AAEB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048250"/>
            <a:ext cx="3762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rPr>
              <a:t>จุดรั่วและงบรอบถัดไป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4768033-7892-4156-B294-9BC9FCAC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305425"/>
            <a:ext cx="3762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rPr>
              <a:t>Lead quality · Visit · Booking · ROAS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46F8149-151C-4B52-A72F-8CF99A31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4EF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1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200" b="1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200" b="1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200" b="1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200" b="1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200" b="1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200" b="1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200" b="1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200" b="1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200" b="1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pPr>
            <a:r>
              <a:rPr sz="1200" b="1">
                <a:solidFill>
                  <a:srgbClr val="123B39"/>
                </a:solidFill>
                <a:latin typeface="Leelawadee UI"/>
                <a:ea typeface="Leelawadee UI"/>
                <a:cs typeface="Leelawadee UI"/>
              </a:rPr>
              <a:t>หลักอ่านผล: CPL ต่ำอย่างเดียวไม่พอ ต้องตรวจ Qualified, Visit, Booking และ ROAS ร่วมกัน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897ED2B-80FE-45F8-BE70-B749E19D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7239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525" b="1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525" b="1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525" b="1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525" b="1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525" b="1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525" b="1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525" b="1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525" b="1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525" b="1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525" b="1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525" b="1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pPr>
            <a:r>
              <a:rPr sz="525" b="1">
                <a:solidFill>
                  <a:srgbClr val="84918D"/>
                </a:solidFill>
                <a:latin typeface="Leelawadee UI"/>
                <a:ea typeface="Leelawadee UI"/>
                <a:cs typeface="Leelawadee UI"/>
              </a:rPr>
              <a:t>AROM JOMTIEN · DIGITAL SALES COMMAND CENTER · CONCEPT DEMO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4C7F910-0696-44C2-B417-B32832D9D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defRPr sz="825" b="1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defRPr sz="825" b="1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defRPr sz="825" b="1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defRPr sz="825" b="1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defRPr sz="825" b="1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defRPr sz="825" b="1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defRPr sz="825" b="1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defRPr sz="825" b="1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defRPr sz="825" b="1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1">
                <a:solidFill>
                  <a:srgbClr val="123B39"/>
                </a:solidFill>
                <a:latin typeface="Leelawadee UI"/>
                <a:ea typeface="Leelawadee UI"/>
                <a:cs typeface="Leelawadee U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0906675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0F0B61-D9C3-4B05-BA00-D69744B91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00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00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00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00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00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00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00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00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00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rPr>
              <a:t>11 · CRM MENU GUIDE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280D6B-73BE-4018-93C7-4C726D495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0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30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30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30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30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30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30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30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30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30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pPr>
            <a:r>
              <a:rPr sz="30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rPr>
              <a:t>เมนู CRM และงานขาย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40996A-0D9D-48C1-80E1-2CE0D7922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35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35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35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35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35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35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35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35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35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rPr>
              <a:t>ทุก lead ควรมี source, owner, stage และ next action เพื่อให้ผู้จัดการติดตามงานได้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9E5553-36F0-410F-9214-22438A523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52197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47AE56-D33B-4B2B-BEA9-BE044F6D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9077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rPr>
              <a:t>OVERVIEW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E75DDF-2107-424E-B3D0-89B5D14D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362200"/>
            <a:ext cx="3667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rPr>
              <a:t>ภาพรวมฝ่ายขาย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2A6146-1042-49E6-92B7-05A1EE2B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619375"/>
            <a:ext cx="3667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rPr>
              <a:t>Lead · Pipeline · Booked units · Conversion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50E0E6-56B6-4165-BAB8-523D7BD28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52197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760F2E-3070-4611-9BC6-368B9B9EC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9077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rPr>
              <a:t>LEADS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F89F20-62A2-4B6F-85CA-C7DF31674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362200"/>
            <a:ext cx="3667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rPr>
              <a:t>รายชื่อลูกค้า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38AF87-E955-4A0E-ADD5-46D4BF09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619375"/>
            <a:ext cx="3667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rPr>
              <a:t>ค้นหา · กรอง stage · owner · follow-up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1F26C1-79CD-48DF-A6E8-3CCE862B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52197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ACA65F-7232-4E8A-92CC-324FD5D8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5757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rPr>
              <a:t>UNIT INVENTORY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03237A-2AF4-4FC8-9E6D-ED6836A2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429000"/>
            <a:ext cx="3667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rPr>
              <a:t>ผังยูนิต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662465-5340-41BB-AFF4-B4BC41613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686175"/>
            <a:ext cx="3667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rPr>
              <a:t>ชั้น · แบบห้อง · ราคา · สถานะล่าสุด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98FDC4-EB36-4E69-A365-BB4EF635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14700"/>
            <a:ext cx="52197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53B3FA-E214-426A-9DE3-2BD9D35E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5757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rPr>
              <a:t>BOOKINGS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F145EA-FD3F-4900-98FE-7136C062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429000"/>
            <a:ext cx="3667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rPr>
              <a:t>รายการจอง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DE529C-3536-4050-B50A-4F1CD283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686175"/>
            <a:ext cx="3667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rPr>
              <a:t>ผู้ซื้อ · เงินจอง · สินเชื่อ · เอกสาร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FBDAA4-E3DC-4A1B-BCF2-3A4AC916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52197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865DAC-3646-4373-AF77-365809C4C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2437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825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825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825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825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825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825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825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825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825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rPr>
              <a:t>SALES TEAM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6E3E2F-470A-4F59-91D0-CE7D87A7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495800"/>
            <a:ext cx="3667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rPr>
              <a:t>ทีมขาย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FB777E-1197-4715-9D45-651B13BC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752975"/>
            <a:ext cx="3667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rPr>
              <a:t>ปริมาณงาน · งานค้าง · SLA · performance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24F7EB-38F7-4C96-A6CD-E015034F6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81500"/>
            <a:ext cx="52197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E1B1E5-B169-43D1-AEB7-EDAF954B5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2437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825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825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825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825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825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825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825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825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825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rPr>
              <a:t>REPORTS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C780D7-AF23-4A52-A0BC-5D85CF450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495800"/>
            <a:ext cx="3667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rPr>
              <a:t>รายงานฝ่ายขาย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50DF89-9668-42ED-9B1F-82D061FC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752975"/>
            <a:ext cx="3667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rPr>
              <a:t>Conversion · Sales cycle · Booking · Agent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BA3270-4ECF-485C-AE3E-844AD359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820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23B39"/>
          </a:solidFill>
          <a:ln xmlns:a="http://schemas.openxmlformats.org/drawingml/2006/main" w="9525">
            <a:solidFill>
              <a:srgbClr val="123B3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3A4274-D8DF-4AFC-B705-1D2DF89A1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531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8FC8BD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00" b="1">
                <a:solidFill>
                  <a:srgbClr val="8FC8BD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00" b="1">
                <a:solidFill>
                  <a:srgbClr val="8FC8BD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00" b="1">
                <a:solidFill>
                  <a:srgbClr val="8FC8BD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00" b="1">
                <a:solidFill>
                  <a:srgbClr val="8FC8BD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00" b="1">
                <a:solidFill>
                  <a:srgbClr val="8FC8BD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00" b="1">
                <a:solidFill>
                  <a:srgbClr val="8FC8BD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00" b="1">
                <a:solidFill>
                  <a:srgbClr val="8FC8BD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00" b="1">
                <a:solidFill>
                  <a:srgbClr val="8FC8BD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00" b="1">
                <a:solidFill>
                  <a:srgbClr val="8FC8BD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8FC8BD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8FC8BD"/>
                </a:solidFill>
                <a:latin typeface="Leelawadee UI"/>
                <a:ea typeface="Leelawadee UI"/>
                <a:cs typeface="Leelawadee UI"/>
              </a:rPr>
              <a:t>ผู้จัดการควรเห็นทันที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1295A0-CE61-4DCE-AD8D-AE4880CD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724525"/>
            <a:ext cx="8439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2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2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2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2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2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2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2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2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2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2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ไม่มี owner · follow-up เกินกำหนด · visit วันนี้ · เอกสารธนาคารไม่ครบ · พร้อมจอง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495114-AEE4-4AFD-998A-20E36AC85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7239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525" b="1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525" b="1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525" b="1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525" b="1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525" b="1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525" b="1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525" b="1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525" b="1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525" b="1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525" b="1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525" b="1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pPr>
            <a:r>
              <a:rPr sz="525" b="1">
                <a:solidFill>
                  <a:srgbClr val="84918D"/>
                </a:solidFill>
                <a:latin typeface="Leelawadee UI"/>
                <a:ea typeface="Leelawadee UI"/>
                <a:cs typeface="Leelawadee UI"/>
              </a:rPr>
              <a:t>AROM JOMTIEN · DIGITAL SALES COMMAND CENTER · CONCEPT DEMO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1BAF5A-1AA4-4083-ABBC-F0C1ED05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defRPr sz="825" b="1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defRPr sz="825" b="1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defRPr sz="825" b="1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defRPr sz="825" b="1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defRPr sz="825" b="1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defRPr sz="825" b="1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defRPr sz="825" b="1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defRPr sz="825" b="1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defRPr sz="825" b="1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1">
                <a:solidFill>
                  <a:srgbClr val="123B39"/>
                </a:solidFill>
                <a:latin typeface="Leelawadee UI"/>
                <a:ea typeface="Leelawadee UI"/>
                <a:cs typeface="Leelawadee U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9843791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C290C52-5FFA-488D-ADE4-B071D4E93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00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00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00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00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00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00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00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00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00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1E6B63"/>
                </a:solidFill>
                <a:latin typeface="Leelawadee UI"/>
                <a:ea typeface="Leelawadee UI"/>
                <a:cs typeface="Leelawadee UI"/>
              </a:rPr>
              <a:t>12 · UNIT STATUS PLAYBOOK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B73015-0B15-4A3B-9830-73529405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0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30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30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30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30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30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30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30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30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30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pPr>
            <a:r>
              <a:rPr sz="30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rPr>
              <a:t>สถานะยูนิตและขั้นตอนการจอง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8DECE9-46CB-46B6-AFB9-0DBC53435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35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35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35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35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35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35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35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35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35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rPr>
              <a:t>สีบนผังช่วยให้ฝ่ายขายตอบลูกค้าและอัปเดตขั้นตอนสินเชื่อได้จากหน้าจอเดียว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985B1E-741F-4CFE-A4E0-62615AF1A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20193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E2395F-1642-4F6D-A65B-AA290674F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AD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80F82C-7A51-44F7-86B3-982CA1E0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24100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pPr>
            <a:r>
              <a: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rPr>
              <a:t>ว่าง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0C8EDC-49D2-49EC-B026-F32FCFDF7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19375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rPr>
              <a:t>Available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CA4249-D4A3-45E6-B0CD-3CA4EE654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09800"/>
            <a:ext cx="20193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035C28-0981-4BA5-A971-DB19C1EB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812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B0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AC32E2-0378-4C6B-AB34-0B55D579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324100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pPr>
            <a:r>
              <a: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rPr>
              <a:t>สนใจ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A39D92-E4B3-4E04-AE55-850203C28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619375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rPr>
              <a:t>Interested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9E0B33-5FA7-4E7D-BAA9-CA943447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09800"/>
            <a:ext cx="20193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7D474E-4110-4ECC-ADF8-F00B4924F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3812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8E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536029-BD6F-497D-BA80-1B6EEE792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24100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pPr>
            <a:r>
              <a: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rPr>
              <a:t>นัดเข้าชม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6A4CD6-F326-4734-AD13-754BFFDA1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19375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rPr>
              <a:t>Visit scheduled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E13807-9AD5-4CB1-BDE8-6FFC2E91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209800"/>
            <a:ext cx="20193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C0CBE8-87AB-4AD4-A9D1-13ADA6F6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3812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73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238C22-906C-4178-AA05-E8F42CF84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324100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pPr>
            <a:r>
              <a: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rPr>
              <a:t>จองแล้ว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EC00DE-0C61-4155-AC39-51A9C870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619375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rPr>
              <a:t>Reserved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9563F7-4E63-4D25-84A7-BF2AE4F20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09800"/>
            <a:ext cx="20193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38CE42-B794-4B5D-A06C-439977AC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812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91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923D44-97E3-4D46-9350-3AE09A74D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324100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pPr>
            <a:r>
              <a: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rPr>
              <a:t>กำลังยื่นกู้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86AABD-B371-46BC-BD4C-5248BAD2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619375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rPr>
              <a:t>Loan submitting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513C92-1ED5-4191-8BE9-D284DB73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20193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76ED40-3EFB-4843-855E-FBACEBE26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48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9D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316880-5760-4063-BB05-26D0582D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90900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pPr>
            <a:r>
              <a: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rPr>
              <a:t>กู้ผ่าน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A6A869-81BB-43D8-A846-E72717194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86175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rPr>
              <a:t>Loan approved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B8407D-4E3C-4C63-A3CA-2F141D51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76600"/>
            <a:ext cx="20193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0221BD-9F72-4DC7-9252-0340F419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448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5D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870ABD-4D8D-48AD-A632-B91302FE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390900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pPr>
            <a:r>
              <a: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rPr>
              <a:t>กู้ไม่ผ่าน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381B2B-8F7E-4CDD-82BD-09E21E34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686175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rPr>
              <a:t>Loan rejected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96991B-1509-4F30-BAD4-3E78F8C6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276600"/>
            <a:ext cx="20193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92D661-9431-4227-9700-9453085B1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448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94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14B8382-37CB-47AA-B894-34312C56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90900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pPr>
            <a:r>
              <a: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rPr>
              <a:t>รอโอน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5E0AA2-D35A-4B2E-8060-3E2465103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86175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rPr>
              <a:t>Awaiting transfer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2D5741E-F39F-4D10-A285-105BE356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276600"/>
            <a:ext cx="20193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808B3B6-4A3E-4CB1-9855-B57BE767F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448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F81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72A6AEF-889E-4303-89EE-D88BD4D2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390900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pPr>
            <a:r>
              <a: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rPr>
              <a:t>กำลัง Built-in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06BDE4C-C38B-4424-A3E2-63BE5533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86175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rPr>
              <a:t>Built-in in progress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4CA96B8-141F-4B91-A252-4C00578B7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276600"/>
            <a:ext cx="20193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9C5B295-3737-4605-B7A8-6679B2B27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48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5A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78D7ECD-3981-4B1B-8E53-376861E50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390900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pPr>
            <a:r>
              <a:rPr sz="1200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rPr>
              <a:t>โอนแล้ว / ขายแล้ว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BDEE166-DB30-4344-9CF0-1139C4B00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686175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0">
                <a:solidFill>
                  <a:srgbClr val="66736F"/>
                </a:solidFill>
                <a:latin typeface="Leelawadee UI"/>
                <a:ea typeface="Leelawadee UI"/>
                <a:cs typeface="Leelawadee UI"/>
              </a:rPr>
              <a:t>Transferred / sold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5BAE586-140A-460B-9360-BF9E3DF6A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00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00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00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00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00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00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00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00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00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rPr>
              <a:t>BOOKING FLOW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EA8D829-2B39-4DDC-8EE8-174E27CDC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6B6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2C6A5A0-6544-4890-ACFD-A76E6FF8C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86325"/>
            <a:ext cx="158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12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12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12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12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12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12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12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12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12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rPr>
              <a:t>เลือกชั้น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B7729E7-B571-4F6A-92F8-9D2BA01B0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91490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050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050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050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050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050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050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050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050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050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rPr>
              <a:t>→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430ACC1-99E4-4E70-8933-891CCCF39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33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6B6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ADDB824-954D-485F-8A4F-C5863D83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886325"/>
            <a:ext cx="158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12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12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12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12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12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12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12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12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12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rPr>
              <a:t>แตะยูนิต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1DBC833-0270-47ED-8A08-DA55CF0F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91490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050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050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050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050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050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050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050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050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050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rPr>
              <a:t>→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2E228CB-EE28-4409-9FBB-0BC8E1EC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933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6B6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68B494F-A9B9-45E8-A865-4922486F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886325"/>
            <a:ext cx="158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12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12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12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12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12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12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12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12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12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rPr>
              <a:t>ตรวจรายละเอียด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EBD0272-8270-4D34-AE24-BBE8DB0BD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91490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050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050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050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050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050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050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050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050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050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rPr>
              <a:t>→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0A6DF93-AD9D-4856-9E83-5D23ADDBF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933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6B6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D9F6675-6790-41E9-9E48-A3206FC2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86325"/>
            <a:ext cx="158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12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12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12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12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12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12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12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12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12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rPr>
              <a:t>กรอกผู้ซื้อ + เงินจอง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6FF5B88-8308-45DF-B4FC-AF9DC522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91490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050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050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050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050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050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050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050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050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050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C09A70"/>
                </a:solidFill>
                <a:latin typeface="Leelawadee UI"/>
                <a:ea typeface="Leelawadee UI"/>
                <a:cs typeface="Leelawadee UI"/>
              </a:rPr>
              <a:t>→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02B1DFC-1A25-4321-8B5A-115FA03B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933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6B6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DB2A31C-6B72-4685-84E4-9897F5EE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886325"/>
            <a:ext cx="158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12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12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12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12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12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12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12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12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12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1">
                <a:solidFill>
                  <a:srgbClr val="132623"/>
                </a:solidFill>
                <a:latin typeface="Leelawadee UI"/>
                <a:ea typeface="Leelawadee UI"/>
                <a:cs typeface="Leelawadee UI"/>
              </a:rPr>
              <a:t>ออกใบรับเงินจำลอง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65CD8C4-97BD-4D25-A7EF-AF5BCD64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8204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1E0C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1">
                <a:solidFill>
                  <a:srgbClr val="8A603B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050" b="1">
                <a:solidFill>
                  <a:srgbClr val="8A603B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050" b="1">
                <a:solidFill>
                  <a:srgbClr val="8A603B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050" b="1">
                <a:solidFill>
                  <a:srgbClr val="8A603B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050" b="1">
                <a:solidFill>
                  <a:srgbClr val="8A603B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050" b="1">
                <a:solidFill>
                  <a:srgbClr val="8A603B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050" b="1">
                <a:solidFill>
                  <a:srgbClr val="8A603B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050" b="1">
                <a:solidFill>
                  <a:srgbClr val="8A603B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050" b="1">
                <a:solidFill>
                  <a:srgbClr val="8A603B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050" b="1">
                <a:solidFill>
                  <a:srgbClr val="8A603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8A603B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8A603B"/>
                </a:solidFill>
                <a:latin typeface="Leelawadee UI"/>
                <a:ea typeface="Leelawadee UI"/>
                <a:cs typeface="Leelawadee UI"/>
              </a:rPr>
              <a:t>เดโม่บันทึกข้อมูลใน browser เท่านั้น ไม่มีการตัดเงินจริง และราคาไม่ใช่ราคาทางการ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21B05D0-803B-445D-B8EB-4DEDBF8F4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7239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525" b="1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525" b="1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525" b="1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525" b="1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525" b="1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525" b="1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525" b="1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525" b="1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525" b="1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525" b="1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525" b="1">
                <a:solidFill>
                  <a:srgbClr val="84918D"/>
                </a:solidFill>
                <a:latin typeface="Leelawadee UI"/>
                <a:ea typeface="Leelawadee UI"/>
                <a:cs typeface="Leelawadee UI"/>
              </a:defRPr>
            </a:pPr>
            <a:r>
              <a:rPr sz="525" b="1">
                <a:solidFill>
                  <a:srgbClr val="84918D"/>
                </a:solidFill>
                <a:latin typeface="Leelawadee UI"/>
                <a:ea typeface="Leelawadee UI"/>
                <a:cs typeface="Leelawadee UI"/>
              </a:rPr>
              <a:t>AROM JOMTIEN · DIGITAL SALES COMMAND CENTER · CONCEPT DEMO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EB5FC62-AFC9-4E83-88BF-3E8C67ED9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defRPr sz="825" b="1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defRPr sz="825" b="1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defRPr sz="825" b="1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defRPr sz="825" b="1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defRPr sz="825" b="1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defRPr sz="825" b="1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defRPr sz="825" b="1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defRPr sz="825" b="1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defRPr sz="825" b="1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123B39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1">
                <a:solidFill>
                  <a:srgbClr val="123B39"/>
                </a:solidFill>
                <a:latin typeface="Leelawadee UI"/>
                <a:ea typeface="Leelawadee UI"/>
                <a:cs typeface="Leelawadee U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4994886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2026-10-19T05:45:51.9790000Z</dcterms:created>
  <dcterms:modified xsi:type="dcterms:W3CDTF">2026-10-19T05:45:51.9790000Z</dcterms:modified>
</coreProperties>
</file>