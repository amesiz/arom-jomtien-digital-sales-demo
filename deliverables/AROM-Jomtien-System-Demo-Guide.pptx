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9b36061ba64293" /><Relationship Type="http://schemas.openxmlformats.org/officeDocument/2006/relationships/extended-properties" Target="/docProps/app.xml" Id="Ra67b19a94ea84923" /><Relationship Type="http://schemas.openxmlformats.org/officeDocument/2006/relationships/officeDocument" Target="/ppt/presentation.xml" Id="R48419c67c4b042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bfaeedfa6c49d7"/>
  </p:sldMasterIdLst>
  <p:notesMasterIdLst>
    <p:notesMasterId xmlns:r="http://schemas.openxmlformats.org/officeDocument/2006/relationships" r:id="R4004f50219904bc2"/>
  </p:notesMasterIdLst>
  <p:sldIdLst>
    <p:sldId xmlns:r="http://schemas.openxmlformats.org/officeDocument/2006/relationships" id="256" r:id="R5e0cd4c185e0449a"/>
    <p:sldId xmlns:r="http://schemas.openxmlformats.org/officeDocument/2006/relationships" id="257" r:id="Rde708cd9f90e46ea"/>
    <p:sldId xmlns:r="http://schemas.openxmlformats.org/officeDocument/2006/relationships" id="258" r:id="R1a26b7f4dfe54634"/>
    <p:sldId xmlns:r="http://schemas.openxmlformats.org/officeDocument/2006/relationships" id="259" r:id="R47bb0765c4fb44b5"/>
    <p:sldId xmlns:r="http://schemas.openxmlformats.org/officeDocument/2006/relationships" id="260" r:id="Rb6a6f789cee340a4"/>
    <p:sldId xmlns:r="http://schemas.openxmlformats.org/officeDocument/2006/relationships" id="261" r:id="R706328b2d55e4a54"/>
    <p:sldId xmlns:r="http://schemas.openxmlformats.org/officeDocument/2006/relationships" id="262" r:id="R516d16e91ace4737"/>
    <p:sldId xmlns:r="http://schemas.openxmlformats.org/officeDocument/2006/relationships" id="263" r:id="R52a51720803a439a"/>
    <p:sldId xmlns:r="http://schemas.openxmlformats.org/officeDocument/2006/relationships" id="264" r:id="R071c9fadce9d4eaa"/>
    <p:sldId xmlns:r="http://schemas.openxmlformats.org/officeDocument/2006/relationships" id="265" r:id="Ra156ad7e4a4246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802821cd4b4b34" /><Relationship Type="http://schemas.openxmlformats.org/officeDocument/2006/relationships/slideMaster" Target="/ppt/slideMasters/slideMaster1.xml" Id="Ra1bfaeedfa6c49d7" /><Relationship Type="http://schemas.openxmlformats.org/officeDocument/2006/relationships/notesMaster" Target="/ppt/notesMasters/notesMaster1.xml" Id="R4004f50219904bc2" /><Relationship Type="http://schemas.openxmlformats.org/officeDocument/2006/relationships/presProps" Target="/ppt/presProps.xml" Id="R7b0f8a846aee47d6" /><Relationship Type="http://schemas.openxmlformats.org/officeDocument/2006/relationships/tableStyles" Target="/ppt/tableStyles.xml" Id="Rd115410a26524967" /><Relationship Type="http://schemas.openxmlformats.org/officeDocument/2006/relationships/slide" Target="/ppt/slides/slide1.xml" Id="R5e0cd4c185e0449a" /><Relationship Type="http://schemas.openxmlformats.org/officeDocument/2006/relationships/slide" Target="/ppt/slides/slide2.xml" Id="Rde708cd9f90e46ea" /><Relationship Type="http://schemas.openxmlformats.org/officeDocument/2006/relationships/slide" Target="/ppt/slides/slide3.xml" Id="R1a26b7f4dfe54634" /><Relationship Type="http://schemas.openxmlformats.org/officeDocument/2006/relationships/slide" Target="/ppt/slides/slide4.xml" Id="R47bb0765c4fb44b5" /><Relationship Type="http://schemas.openxmlformats.org/officeDocument/2006/relationships/slide" Target="/ppt/slides/slide5.xml" Id="Rb6a6f789cee340a4" /><Relationship Type="http://schemas.openxmlformats.org/officeDocument/2006/relationships/slide" Target="/ppt/slides/slide6.xml" Id="R706328b2d55e4a54" /><Relationship Type="http://schemas.openxmlformats.org/officeDocument/2006/relationships/slide" Target="/ppt/slides/slide7.xml" Id="R516d16e91ace4737" /><Relationship Type="http://schemas.openxmlformats.org/officeDocument/2006/relationships/slide" Target="/ppt/slides/slide8.xml" Id="R52a51720803a439a" /><Relationship Type="http://schemas.openxmlformats.org/officeDocument/2006/relationships/slide" Target="/ppt/slides/slide9.xml" Id="R071c9fadce9d4eaa" /><Relationship Type="http://schemas.openxmlformats.org/officeDocument/2006/relationships/slide" Target="/ppt/slides/slide10.xml" Id="Ra156ad7e4a4246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921e5b366e43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a0ad34202343c1" /><Relationship Type="http://schemas.openxmlformats.org/officeDocument/2006/relationships/notesMaster" Target="/ppt/notesMasters/notesMaster1.xml" Id="R55b52a0d90ff4d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f5b4095b5c4605" /><Relationship Type="http://schemas.openxmlformats.org/officeDocument/2006/relationships/notesMaster" Target="/ppt/notesMasters/notesMaster1.xml" Id="Rfb929db9dbeb42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f6f8b9229d46e1" /><Relationship Type="http://schemas.openxmlformats.org/officeDocument/2006/relationships/notesMaster" Target="/ppt/notesMasters/notesMaster1.xml" Id="Ref9bc27c9ccd49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a9d659d69b4a84" /><Relationship Type="http://schemas.openxmlformats.org/officeDocument/2006/relationships/notesMaster" Target="/ppt/notesMasters/notesMaster1.xml" Id="R4445c5a217ea4f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e8064187764879" /><Relationship Type="http://schemas.openxmlformats.org/officeDocument/2006/relationships/notesMaster" Target="/ppt/notesMasters/notesMaster1.xml" Id="R96644f65ff0c41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a65b1f545d4dfe" /><Relationship Type="http://schemas.openxmlformats.org/officeDocument/2006/relationships/notesMaster" Target="/ppt/notesMasters/notesMaster1.xml" Id="R7c048ada1c9b4a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673d56d2284dae" /><Relationship Type="http://schemas.openxmlformats.org/officeDocument/2006/relationships/notesMaster" Target="/ppt/notesMasters/notesMaster1.xml" Id="R3b0ec953609649b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72542312114519" /><Relationship Type="http://schemas.openxmlformats.org/officeDocument/2006/relationships/notesMaster" Target="/ppt/notesMasters/notesMaster1.xml" Id="R93cd4433dacc46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7e2f42bd4a43f4" /><Relationship Type="http://schemas.openxmlformats.org/officeDocument/2006/relationships/notesMaster" Target="/ppt/notesMasters/notesMaster1.xml" Id="Re324a87b170b40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12c773f5c14bbf" /><Relationship Type="http://schemas.openxmlformats.org/officeDocument/2006/relationships/notesMaster" Target="/ppt/notesMasters/notesMaster1.xml" Id="R33617196d17a4e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  <a:p xmlns:a="http://schemas.openxmlformats.org/drawingml/2006/main">
            <a:r>
              <a:t>ภาพหน้าปกเป็น concept visual ที่สร้างขึ้นใหม่ ไม่ใช่ภาพอาคารจริงของโครงการ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  <a:p xmlns:a="http://schemas.openxmlformats.org/drawingml/2006/main">
            <a:r>
              <a:t>ภาพในเว็บไซต์เดโม่เป็น concept visual ไม่ใช่ภาพโครงการจริง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ข้อมูลโครงการทางการอ้างอิง: https://www.coloursdevelopment.com/aromjomtien/</a:t>
            </a:r>
          </a:p>
          <a:p xmlns:a="http://schemas.openxmlformats.org/drawingml/2006/main">
            <a:r>
              <a:t>ตัวเลข performance, lead, ราคา, booking value และชื่อบุคคลในเด็คเป็นข้อมูลสมมติสำหรับ concept demo เท่านั้น.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55d7d846b94c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a986d34ef43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8a6cea69348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3a7c4cc20d492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bafbf3794d5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fb1ba0a34c4a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482E9C4-33B4-409D-9439-DB48588510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C46F5B-DE60-405A-A597-C542C91A34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FE63497-B13C-4A9C-A464-1263D51A21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654766-162E-4A96-AEF5-AB3FFC13B0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326C58-DF18-4BA6-B22B-106CC7F4FC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C1327D8-EFDE-4760-8BC3-D5DB84F4D5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6AB63-711D-4EA1-B1F3-D6CA8DD416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9004EED-B0CA-4298-A10D-A390C599164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F1CC8E1-27A4-4318-B436-ECF1466BF8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DC36D04-BB09-46F4-9C24-A2A51B92B9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c50354cd714a8c" /><Relationship Type="http://schemas.openxmlformats.org/officeDocument/2006/relationships/slideLayout" Target="/ppt/slideLayouts/slideLayout1.xml" Id="R72e0bdf92c5b4fee" /><Relationship Type="http://schemas.openxmlformats.org/officeDocument/2006/relationships/slideLayout" Target="/ppt/slideLayouts/slideLayout2.xml" Id="Rd56b6941d4d34009" /><Relationship Type="http://schemas.openxmlformats.org/officeDocument/2006/relationships/slideLayout" Target="/ppt/slideLayouts/slideLayout3.xml" Id="R6d55305ffe15466e" /><Relationship Type="http://schemas.openxmlformats.org/officeDocument/2006/relationships/slideLayout" Target="/ppt/slideLayouts/slideLayout4.xml" Id="Rf70fb7d3698049b6" /><Relationship Type="http://schemas.openxmlformats.org/officeDocument/2006/relationships/slideLayout" Target="/ppt/slideLayouts/slideLayout5.xml" Id="R7bdbd1ae12874696" /><Relationship Type="http://schemas.openxmlformats.org/officeDocument/2006/relationships/slideLayout" Target="/ppt/slideLayouts/slideLayout6.xml" Id="R3b50e4dbf28749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e0bdf92c5b4fee"/>
    <p:sldLayoutId xmlns:r="http://schemas.openxmlformats.org/officeDocument/2006/relationships" id="2147483650" r:id="Rd56b6941d4d34009"/>
    <p:sldLayoutId xmlns:r="http://schemas.openxmlformats.org/officeDocument/2006/relationships" id="2147483651" r:id="R6d55305ffe15466e"/>
    <p:sldLayoutId xmlns:r="http://schemas.openxmlformats.org/officeDocument/2006/relationships" id="2147483652" r:id="Rf70fb7d3698049b6"/>
    <p:sldLayoutId xmlns:r="http://schemas.openxmlformats.org/officeDocument/2006/relationships" id="2147483653" r:id="R7bdbd1ae12874696"/>
    <p:sldLayoutId xmlns:r="http://schemas.openxmlformats.org/officeDocument/2006/relationships" id="2147483654" r:id="R3b50e4dbf28749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46945b500e4ad6" /><Relationship Type="http://schemas.openxmlformats.org/officeDocument/2006/relationships/image" Target="/ppt/media/image.png" Id="R03fcab286c594d00" /><Relationship Type="http://schemas.openxmlformats.org/officeDocument/2006/relationships/notesSlide" Target="/ppt/notesSlides/notesSlide1.xml" Id="R77573b5fb83b41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14867109f34bb6" /><Relationship Type="http://schemas.openxmlformats.org/officeDocument/2006/relationships/notesSlide" Target="/ppt/notesSlides/notesSlide2.xml" Id="R26d0b1567f4d49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c41b246fa24607" /><Relationship Type="http://schemas.openxmlformats.org/officeDocument/2006/relationships/image" Target="/ppt/media/image.jpeg" Id="R08ac6932be5f431d" /><Relationship Type="http://schemas.openxmlformats.org/officeDocument/2006/relationships/notesSlide" Target="/ppt/notesSlides/notesSlide3.xml" Id="Rd0416c5349934a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080ce81ae34cac" /><Relationship Type="http://schemas.openxmlformats.org/officeDocument/2006/relationships/image" Target="/ppt/media/image2.jpeg" Id="R0e377673717046ba" /><Relationship Type="http://schemas.openxmlformats.org/officeDocument/2006/relationships/notesSlide" Target="/ppt/notesSlides/notesSlide4.xml" Id="Rb95bd4b744714b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45055b700c4cbf" /><Relationship Type="http://schemas.openxmlformats.org/officeDocument/2006/relationships/chart" Target="/ppt/slides/charts/chart1.xml" Id="R17e76955f68d4272" /><Relationship Type="http://schemas.openxmlformats.org/officeDocument/2006/relationships/notesSlide" Target="/ppt/notesSlides/notesSlide5.xml" Id="R4382d41cc4c04a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90edc4a74940e3" /><Relationship Type="http://schemas.openxmlformats.org/officeDocument/2006/relationships/notesSlide" Target="/ppt/notesSlides/notesSlide6.xml" Id="Rd151018248ea4e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134c9e53b549ec" /><Relationship Type="http://schemas.openxmlformats.org/officeDocument/2006/relationships/notesSlide" Target="/ppt/notesSlides/notesSlide7.xml" Id="R228e259d3d2c48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002694676a4aa3" /><Relationship Type="http://schemas.openxmlformats.org/officeDocument/2006/relationships/image" Target="/ppt/media/image3.jpeg" Id="R4202302b0db546f4" /><Relationship Type="http://schemas.openxmlformats.org/officeDocument/2006/relationships/notesSlide" Target="/ppt/notesSlides/notesSlide8.xml" Id="R03b5307f628b45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86a07b10e6479a" /><Relationship Type="http://schemas.openxmlformats.org/officeDocument/2006/relationships/notesSlide" Target="/ppt/notesSlides/notesSlide9.xml" Id="R8cda2dc7a9ef4d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b913e9b64741cc" /><Relationship Type="http://schemas.openxmlformats.org/officeDocument/2006/relationships/image" Target="/ppt/media/image4.jpeg" Id="R33696eacd6e5471d" /><Relationship Type="http://schemas.openxmlformats.org/officeDocument/2006/relationships/notesSlide" Target="/ppt/notesSlides/notesSlide10.xml" Id="Re9259e94fb6445b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Cost per booking (THB)</c:v>
          </c:tx>
          <c:spPr>
            <a:solidFill xmlns:a="http://schemas.openxmlformats.org/drawingml/2006/main">
              <a:srgbClr val="1E6B63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Meta</c:v>
                </c:pt>
                <c:pt idx="1">
                  <c:v>Google</c:v>
                </c:pt>
                <c:pt idx="2">
                  <c:v>TikTok</c:v>
                </c:pt>
                <c:pt idx="3">
                  <c:v>Property Portal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28640</c:v>
                </c:pt>
                <c:pt idx="1">
                  <c:v>27578</c:v>
                </c:pt>
                <c:pt idx="2">
                  <c:v>42267</c:v>
                </c:pt>
                <c:pt idx="3">
                  <c:v>45300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eelawadee UI"/>
                  <a:ea typeface="Leelawadee UI"/>
                  <a:cs typeface="Leelawade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0D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Leelawadee UI"/>
                    <a:ea typeface="Leelawadee UI"/>
                    <a:cs typeface="Leelawadee UI"/>
                  </a:rPr>
                  <a:t>THB per booking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Leelawadee UI"/>
                  <a:ea typeface="Leelawadee UI"/>
                  <a:cs typeface="Leelawadee U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Leelawadee UI"/>
                <a:ea typeface="Leelawadee UI"/>
                <a:cs typeface="Leelawadee U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Leelawadee UI"/>
                <a:ea typeface="Leelawadee UI"/>
                <a:cs typeface="Leelawadee UI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C07DF-C90F-473F-BD20-1F99D9724F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cab286c594d0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E9F9B-85EB-45E3-A9C1-A428D87D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29">
              <a:alpha val="7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AA915-11E7-441C-B699-2EF7F3C3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AROM JOMTIEN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F426A-1766-4BDF-B135-58612BAD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0125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DIGITAL SALES COMMAND CENTER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FA9A5-AF93-4172-98A8-A50AEA1D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7429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คู่มือการใช้งานเดโม่</a:t>
            </a:r>
          </a:p>
          <a:p xmlns:a="http://schemas.openxmlformats.org/drawingml/2006/main">
            <a:pPr algn="l">
              <a:def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4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จากงบโฆษณาถึงยอดจอง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365D8-8CDD-457D-9CA3-71945358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81500"/>
            <a:ext cx="866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defRPr>
            </a:pPr>
            <a:r>
              <a:rPr sz="1575" b="0" i="0">
                <a:solidFill>
                  <a:srgbClr val="DCE9E2"/>
                </a:solidFill>
                <a:latin typeface="Leelawadee UI"/>
                <a:ea typeface="Leelawadee UI"/>
                <a:cs typeface="Leelawadee UI"/>
              </a:rPr>
              <a:t>Marketing Intelligence · CRM · Unit Inventory · Booking · Website Redesign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0577F-DBFD-433C-9779-114C08FD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198120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PRIVATE CONCEPT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51534-4D5F-437F-9E4B-36245FB4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619750"/>
            <a:ext cx="1952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19 OCTOBER 2026</a:t>
            </a:r>
          </a:p>
        </p:txBody>
      </p:sp>
    </p:spTree>
    <p:extLst>
      <p:ext uri="{BB962C8B-B14F-4D97-AF65-F5344CB8AC3E}">
        <p14:creationId xmlns:p14="http://schemas.microsoft.com/office/powerpoint/2010/main" val="12185197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10223E-E729-44CA-8CE7-1DCD2AF4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01 · SYSTEM AT A GLANCE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1BC2A-3504-46A3-B4F5-75DBA784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หนึ่งระบบ · หนึ่ง customer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528F4-9AE7-4EF8-8075-F5FBA905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ทุกจุดสัมผัสส่งข้อมูลต่อกัน และหัวหน้าเห็นผลตั้งแต่ media จนถึง booking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AB781-C6AC-43D2-8536-C6033AAC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24003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BA01F-EE9A-4A4B-9D8C-7D0EA394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A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8DE7F-D964-4870-8B9C-F13F3D80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5FCDE-A8EF-4B9B-84E0-3E1E6369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>
            <a:def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Acquire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7E971-F3BA-4F78-BEC2-2519092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Meta · Google · TikTok</a:t>
            </a:r>
          </a:p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Portal · Booth · Broker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737A2-B122-4F28-BFB7-47FAAF4F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333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41"/>
          </a:bodyPr>
          <a:lstStyle xmlns:a="http://schemas.openxmlformats.org/drawingml/2006/main">
            <a:def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0E14E-9D81-49BD-8A2C-A682350C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28875"/>
            <a:ext cx="24003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4396B-BB10-4155-9FCF-B1FDAADD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2B534-DAC5-4D60-95C0-2C472A04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479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576AF-61F6-42A7-A9F3-6A1E2031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337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>
            <a:def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Qualify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D1B8B0-6312-425C-A169-4CA2AC94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67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Lead owner · Follow-up</a:t>
            </a:r>
          </a:p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Visit · Bank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1E100-94C3-400E-B059-AFFBEC99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41"/>
          </a:bodyPr>
          <a:lstStyle xmlns:a="http://schemas.openxmlformats.org/drawingml/2006/main">
            <a:def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3A5A0-4DCE-49D7-956C-9506768D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28875"/>
            <a:ext cx="24003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9E72A-3A9E-4215-8327-EBBC7E2D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E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806A41-B9E2-4910-859C-EF31A32C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479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C48450-ADA3-4DFD-829A-15CF381B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>
            <a:def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Convert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C8B01-65C1-4F35-9F7F-0E406E4F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67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Unit status · Hold</a:t>
            </a:r>
          </a:p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Booking · Receipt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044A79-77E3-4DF0-A6D2-D9B49E14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337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41"/>
          </a:bodyPr>
          <a:lstStyle xmlns:a="http://schemas.openxmlformats.org/drawingml/2006/main">
            <a:def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21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459CBC-AD01-4AE7-99A1-C74D3DA6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28875"/>
            <a:ext cx="2400300" cy="24003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9F1481-A7BB-49C1-A4E7-1E7CDB11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638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209CB2-F185-40A9-9BA1-A625438E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647950"/>
            <a:ext cx="457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BAB8AB-C2B8-4CE5-B3EA-8A3DDCC7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33750"/>
            <a:ext cx="200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851"/>
          </a:bodyPr>
          <a:lstStyle xmlns:a="http://schemas.openxmlformats.org/drawingml/2006/main">
            <a:def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1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Optimize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268C9-86E8-45AF-9AC1-7404F146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867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CPL · Cost / Visit</a:t>
            </a:r>
          </a:p>
          <a:p xmlns:a="http://schemas.openxmlformats.org/drawingml/2006/main">
            <a:pPr algn="l">
              <a:def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Cost / Booking · ROAS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029E32-F4F5-42E1-BDE7-0341A0E1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19700"/>
            <a:ext cx="37338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23B3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HEAD APPROVAL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D43581-EDD1-4B58-AED4-1EC14227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734050"/>
            <a:ext cx="426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อนุมัติ strategy · budget · creative · scale / pause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5BF882-8E88-48D9-87B2-B9287E7C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157488-D697-45EB-8364-47D99229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18576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C2495C-0F09-41D5-9486-617EB08F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02 · PUBLIC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EF6FE-86B2-4BD8-B4EE-874A13B2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เว็บไซต์ใหม่ทำหน้าที่ “สร้างความอยาก” ก่อนขอ lead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67BA5-1F52-4A96-9AC5-C4DCDBD5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ลำดับเรื่องชัดขึ้น CTA เด่นขึ้น และแบบฟอร์มส่งข้อมูลเข้า CRM เดโม่ในเบราว์เซอร์เดียวกัน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0CDCD-F850-44DC-8DFF-C7EF70929D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c6932be5f431d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209800"/>
            <a:ext cx="7239000" cy="4076700"/>
          </a:xfrm>
          <a:prstGeom xmlns:a="http://schemas.openxmlformats.org/drawingml/2006/main" prst="roundRect">
            <a:avLst>
              <a:gd name="adj" fmla="val 280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271E0-449F-42F4-9258-0B5D8541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295650" cy="407670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7E355-B9CE-4C9D-8A27-264EF02F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14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DESIGN RATIONALE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CD8E1-8C4C-417E-9DBB-3E5220E2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52750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8E5C4-1E53-489C-B86A-405AF601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933700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Value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5345A-F538-4912-A2B4-AE6EC82D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19087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เปิดด้วยคุณค่าชีวิตริมทะเล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C23E8E-E73E-40D4-B77B-FB282661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8617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AF4E6C-3E65-4998-8FCF-DFEF2155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6712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Narrative 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7FBBE4-EAD6-4A27-8027-6AE33C5B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924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Story → Residence → Experience → Location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796EA8-F9F4-401B-A48B-BB625341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0FE7C-F6CD-43DF-A7D2-91DCEE00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00550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Clear CTA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0B91DE-ADB9-4046-96F3-1F81DED0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6577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Enquire now อยู่ในจังหวะตัดสินใจ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AD47B-88F5-4720-B1A1-A991A7F1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15302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43F85-A7EE-48DF-8764-887D42D6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33975"/>
            <a:ext cx="2143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CRM handoff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A5BDCF-CC09-4B29-9995-637235A2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39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บันทึก lead เข้า CRM แบบ local-only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FAA961-0FFB-4D26-884E-1CF04754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810250"/>
            <a:ext cx="290512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1E7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rPr>
              <a:t>CONCEPT VISUALS · NOT OFFICIAL PHOTOS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4835E-BCC9-4797-8B16-73C74DB5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D0C85A-3FC7-4875-A130-1E50B581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954811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0851D5-0E62-4BBC-B301-59A609CB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03 · PERFORMANCE MARKETING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ACDBE-A4EC-461D-AA3D-A823B40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ตอบให้ได้ว่า “งบไปไหน และได้อะไรกลับมา”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E723B-4B60-40F5-BA8A-C1350606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ผู้บริหารกรองตามช่วงเวลาและ channel แล้วอ่านผลตั้งแต่ impression ถึง booking ได้ในหน้าเดียว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C81257-AA21-4C54-8AB4-8A84283BF2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377673717046ba"/>
          <a:srcRect xmlns:a="http://schemas.openxmlformats.org/drawingml/2006/main" l="0" t="99" r="0" b="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43125"/>
            <a:ext cx="7715250" cy="4333875"/>
          </a:xfrm>
          <a:prstGeom xmlns:a="http://schemas.openxmlformats.org/drawingml/2006/main" prst="roundRect">
            <a:avLst>
              <a:gd name="adj" fmla="val 2637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24546-CC28-404A-960B-EDF6482A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43125"/>
            <a:ext cx="2857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3C56E-46BE-438D-9189-9002AEE1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860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CPL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FBCFA0-06F6-4878-9480-94A263FF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Spend ÷ Leads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576DA-9825-4340-B873-BC588F17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24200"/>
            <a:ext cx="2857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59917-9E79-49D9-A776-CDA507A4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67075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Cost / Visit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CAD3D-DB9B-4259-888E-FBD960EF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52825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Spend ÷ Visits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8A8C8-60B5-48C6-B3C1-4DB09C24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05275"/>
            <a:ext cx="2857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23A99-B04D-41EF-9F26-13107205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Cost / Booking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37A94E-5C7E-44A5-A026-8E173A8B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339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>
            <a:def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Spend ÷ Bookings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9D7FC-EA7C-41DE-81C8-0BD59A71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086350"/>
            <a:ext cx="2857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23B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78B12-546F-4FB1-AF98-3087FC26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229225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90"/>
          </a:bodyPr>
          <a:lstStyle xmlns:a="http://schemas.openxmlformats.org/drawingml/2006/main">
            <a:def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ROAS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8B360-6733-4694-B654-91D60320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14975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>
            <a:def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defRPr>
            </a:pPr>
            <a:r>
              <a:rPr sz="975" b="0" i="0">
                <a:solidFill>
                  <a:srgbClr val="D5E5DE"/>
                </a:solidFill>
                <a:latin typeface="Leelawadee UI"/>
                <a:ea typeface="Leelawadee UI"/>
                <a:cs typeface="Leelawadee UI"/>
              </a:rPr>
              <a:t>Booking value ÷ Spend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3AD883-B15D-46BB-80A5-8E09C333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1FA2D-78AB-4E88-AAB7-845FFFCA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332108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D87B6-6714-444C-80EB-28E84EFF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04 · BUDGET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18B13D-BFDC-4687-B95E-349769C0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อย่าดูแค่ CPL — ดูถึง cost per booking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A7C87-ED21-401D-B5A6-06C99A3F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ในข้อมูลเดโม่ Meta และ Google ปิด booking ได้มีประสิทธิภาพกว่า TikTok และ Property Portal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82ADD1A5-CC09-48B1-8A44-D0E3EED31E95}"/>
              </a:ext>
            </a:extLst>
          </p:cNvPr>
          <p:cNvGraphicFramePr/>
          <p:nvPr/>
        </p:nvGraphicFramePr>
        <p:xfrm>
          <a:off xmlns:a="http://schemas.openxmlformats.org/drawingml/2006/main" x="742950" y="2266950"/>
          <a:ext xmlns:a="http://schemas.openxmlformats.org/drawingml/2006/main" cx="6858000" cy="3562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e76955f68d427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B737D-2EDA-479D-B08F-7C5DC424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6950"/>
            <a:ext cx="3505200" cy="3562350"/>
          </a:xfrm>
          <a:prstGeom xmlns:a="http://schemas.openxmlformats.org/drawingml/2006/main" prst="roundRect">
            <a:avLst>
              <a:gd name="adj" fmla="val 32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D3C62-A89B-4F8D-B533-83AEF9BD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MANAGEMENT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46CCF-2D2C-46C2-813B-CFC7BE51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63817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D9EAE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D2E5A-593B-4713-A97E-6E8868A4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03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>
            <a:def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Google high-intent 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DD8A9-95E3-44CE-B3F1-241E250C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19450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562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รักษาคุณภาพ lead และเพิ่มงบแบบค่อยเป็นค่อยไป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405AFD-B391-45E9-BD3D-845F23C1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48075"/>
            <a:ext cx="63817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D9EAE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KEEP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520DD9-A0C5-4099-AE73-51C077AE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>
            <a:def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Meta lead gen + retargeting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9AD443-64BE-499D-8C69-B2CFC132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5762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คุม creative fatigue และดู visit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D239B-D419-46D3-B829-80774FDA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86250"/>
            <a:ext cx="63817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1E0C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rPr>
              <a:t>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A7EC6-CCF6-494B-9ED7-0C78B26B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767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>
            <a:def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TikTok creative variants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443D1-DA97-4C0F-89D2-8EFB9F33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95800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346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แยก discovery จาก conversion campaign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3AF7B8-BCFE-45CB-8B69-08FCD82F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924425"/>
            <a:ext cx="63817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1E0C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rPr>
              <a:t>REFINE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049C8-DCA7-4E70-84AB-61E1D32C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149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>
            <a:def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Property portal placement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483AAC-F264-499D-A10B-0EF79568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133975"/>
            <a:ext cx="2143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วัด qualified lead ไม่ใช่แค่จำนวน enquiry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A1ABA0-2052-4504-AE16-17BF641D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007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DEMO DATA · NOT A LIVE MEDIA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BB427-8AC0-4805-9494-8514BAF9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0D394F-DEA3-4351-B696-B4D0EF17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7851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E64BC1-F27B-48B4-B08B-AF0E157A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05 · CRM OPERATING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3FC759-CB30-4273-A1F5-6588B62D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lead ทุกแหล่งต้องมี owner และ next 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73C98-BA58-4187-B640-8494B9A3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ออนไลน์, บูธ, นายหน้า และ referral เข้า pipeline เดียวกัน พร้อม SLA และประวัติ follow-up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1AE34-1813-4CB7-A265-937FEF18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1952625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DCEC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7EF4A-6580-43AB-8769-EAE5F94F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61"/>
          </a:bodyPr>
          <a:lstStyle xmlns:a="http://schemas.openxmlformats.org/drawingml/2006/main">
            <a:def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4326A-FE93-468C-9FD6-0BE23919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>
            <a:def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New inquiry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B1198-891F-4A49-9492-F87077C7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00350"/>
            <a:ext cx="25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648"/>
          </a:bodyPr>
          <a:lstStyle xmlns:a="http://schemas.openxmlformats.org/drawingml/2006/main">
            <a:def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63F19-55F5-4B5D-A4EB-E0F6D1BC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57450"/>
            <a:ext cx="1952625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9BC1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72B44-6AEE-4F5B-9F6A-68D97A39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479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61"/>
          </a:bodyPr>
          <a:lstStyle xmlns:a="http://schemas.openxmlformats.org/drawingml/2006/main">
            <a:def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64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0F1B83-B9ED-4B93-91B7-28C69F1D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432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>
            <a:def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Qualified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E8AB75-46C1-4147-A68A-B9240286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00350"/>
            <a:ext cx="25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648"/>
          </a:bodyPr>
          <a:lstStyle xmlns:a="http://schemas.openxmlformats.org/drawingml/2006/main">
            <a:def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C74E76-90A0-4B9B-8FC0-E7FC3AD8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57450"/>
            <a:ext cx="1952625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8D7C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CF4C42-F687-4BD5-ACE0-572135F4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479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61"/>
          </a:bodyPr>
          <a:lstStyle xmlns:a="http://schemas.openxmlformats.org/drawingml/2006/main">
            <a:def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42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9476F9-85CC-4822-99F5-17506CBB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>
            <a:def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Visit scheduled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F6DE50-A9BD-447C-AAFD-777D5801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800350"/>
            <a:ext cx="25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648"/>
          </a:bodyPr>
          <a:lstStyle xmlns:a="http://schemas.openxmlformats.org/drawingml/2006/main">
            <a:def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DF695-6ADA-464B-B9AA-905FB120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57450"/>
            <a:ext cx="1952625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D9B7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2627F0-0BA7-433B-B1BD-42B78C89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479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61"/>
          </a:bodyPr>
          <a:lstStyle xmlns:a="http://schemas.openxmlformats.org/drawingml/2006/main">
            <a:def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28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2A7F69-94B5-4161-9872-AAC91AE9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432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>
            <a:def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Negotiation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3B361D-2D83-4511-A091-43AD9CCC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00350"/>
            <a:ext cx="257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648"/>
          </a:bodyPr>
          <a:lstStyle xmlns:a="http://schemas.openxmlformats.org/drawingml/2006/main">
            <a:def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8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2BEC1D-A5E2-4C33-956C-6FF697B4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57450"/>
            <a:ext cx="1952625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3979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4A243F-D87E-4E5F-9D4E-E91557FA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47950"/>
            <a:ext cx="85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61"/>
          </a:bodyPr>
          <a:lstStyle xmlns:a="http://schemas.openxmlformats.org/drawingml/2006/main">
            <a:def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23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32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B901AB-3454-4B36-93BF-4A3EC1F4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432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>
            <a:def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D9E9E3"/>
                </a:solidFill>
                <a:latin typeface="Leelawadee UI"/>
                <a:ea typeface="Leelawadee UI"/>
                <a:cs typeface="Leelawadee UI"/>
              </a:rPr>
              <a:t>Booked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6FD16E-B48B-44FE-BC05-7404F43F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5143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CED29E-4153-4DEC-BA19-59373EEB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ONLINE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5B7E76-4929-4E66-9CB4-BEB97CAC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195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Website · Meta · Google · TikTok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3937CF-5312-4117-89E6-5FC6F166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50532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333"/>
          </a:bodyPr>
          <a:lstStyle xmlns:a="http://schemas.openxmlformats.org/drawingml/2006/main">
            <a:def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SLA: contact ≤ 15 min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80B857-F9AF-4025-8DB7-1DF50AAF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95750"/>
            <a:ext cx="5143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77344D-29E0-4BE5-91ED-3824C479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5767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OFFLINE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9492E4-1A1C-4E65-9273-9B782DEC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195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Sales booth · Event · Walk-in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1D9CDE-4441-4D1F-88EF-EA13FEC8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50532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333"/>
          </a:bodyPr>
          <a:lstStyle xmlns:a="http://schemas.openxmlformats.org/drawingml/2006/main">
            <a:def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ASSIGN OWNER + FOLLOW-UP DATE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2FBF69-0E2F-4DDB-B7B3-1DEAE95C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5143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39ADEE-B52C-4D79-9CF4-8CA29771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3397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PARTNER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7E2903-592C-4FC2-85D1-AC2C1DF7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0958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Broker · Agent network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7390F9-E5F3-4159-A86D-F07750F7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38162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333"/>
          </a:bodyPr>
          <a:lstStyle xmlns:a="http://schemas.openxmlformats.org/drawingml/2006/main">
            <a:def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ASSIGN OWNER + FOLLOW-UP 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3FD553-9893-47DD-98B1-A714F489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972050"/>
            <a:ext cx="5143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710DD7-A25E-423E-8967-C23F5480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3397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ORGANIC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33C4F2-8324-4847-A281-2B26B65C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95875"/>
            <a:ext cx="361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Referral · Existing customer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C5AD9D-1938-48C8-822D-7DE2826C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81625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3333"/>
          </a:bodyPr>
          <a:lstStyle xmlns:a="http://schemas.openxmlformats.org/drawingml/2006/main">
            <a:def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ASSIGN OWNER + FOLLOW-UP DATE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A33910D-CA5C-4216-B293-13C36EF3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E71DC3-DB55-4360-A63C-0145E695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54283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B057E3-84EF-405C-9433-4666ABDD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06 · SALES FOLLOW-UP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1F43A-D11D-4532-B7F1-39B7D5ED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หัวหน้าเห็นว่าใครกำลังทำอะไรกับลูกค้าคนไหน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5EE6F-41DE-450C-A2CA-3D5DEC60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สถานะสำคัญควรเป็น field ที่รายงานได้ ไม่ใช่ข้อความกระจัดกระจายในแชต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F2F3D-0CD6-4AAA-8117-52AA8EDC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019300" cy="25908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EAF19F-B819-46A9-94EE-2732F9AB2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CUSTOMER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180A0-8A6F-44CC-AAC2-D9BF7CF5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Demo Buyer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5CEAC-1ADA-431B-B7C8-2E12503B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1947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6FB908-F4B5-4472-84CC-138911FA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Michael Tan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11E4DD-DA69-47C1-859E-9FBB2DFB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002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1CCF0-0142-4A20-AA18-4B694717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71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Chanya 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994AB0-47E0-451F-AF3B-69CAB049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33625"/>
            <a:ext cx="2019300" cy="25908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BEC55-6250-4FDE-8630-BECA1930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241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471D7-EB4B-4195-A11D-E06A80D5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Unassigned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C7BC3-3292-4F35-9B74-8C0321E3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1947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C5790-FBFC-454A-AB5D-70DA4AB1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814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Krit 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B07F3D-3E7E-4992-B000-C83EF598A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01002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26B0B9-7BF2-4B35-BE35-9BA2C09D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Pim 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40D6C-DD71-4DBD-905A-18CA8773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33625"/>
            <a:ext cx="2019300" cy="25908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A34E4-338A-4F2C-9D5D-6ACA94A9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241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NEXT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B3B5D-5EF0-4502-8F12-DE6AEA2D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Call ≤ 15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DF114B-3E2E-412E-8240-0B3A142E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1947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EB9ED-EECF-478A-A7F7-D5D4D5AA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814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Bank documents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589275-A5ED-4B3A-9327-913DA0C0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01002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88E14-1EE2-494E-BD2C-7883843E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71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Site visit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D5EA3-AB5A-494F-ABCB-31EBC5C6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33625"/>
            <a:ext cx="2019300" cy="25908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A8393F-F92C-4070-AE13-6670D20F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241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BANK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C7CD66-5ACC-4CF6-92C9-45399A11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908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Not started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221380-EA54-454D-BFE3-962A7694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1947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5ED119-6BB9-467F-834F-A8AB24E7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814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Loan pending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4EBDED-E0D0-48FA-BCCF-AFD3ECFF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1002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9AAF7B-2896-42B9-A94F-B349214B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71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Pre-approved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1FD348-3241-498D-9C2F-E15A4ED3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33625"/>
            <a:ext cx="2019300" cy="2590800"/>
          </a:xfrm>
          <a:prstGeom xmlns:a="http://schemas.openxmlformats.org/drawingml/2006/main" prst="roundRect">
            <a:avLst>
              <a:gd name="adj" fmla="val 56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E52DEF-70A4-463B-BCFF-F613EF98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241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UNIT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FCE71A-31E6-4B56-8579-1D3BED4F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908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Not selected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B09886-D1CB-45E9-B35C-B43EB627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1947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033523-115F-4F92-889E-0530AB67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814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12A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0EDA7C-245A-4406-8366-859E0265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10025"/>
            <a:ext cx="167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EBFC5EF-F187-474A-B0F4-A56A1846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171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0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18C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2C70FB-8B1D-47A1-B9F3-E647C9AC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MANAGER ALERTS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901D07-D12F-4E46-BFE0-4A7D94AB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76850"/>
            <a:ext cx="12001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2DD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rPr>
              <a:t>No owner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AE9F6B-488B-4BE8-9FAA-60ADDA6D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276850"/>
            <a:ext cx="16192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2DD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D4F4A"/>
                </a:solidFill>
                <a:latin typeface="Leelawadee UI"/>
                <a:ea typeface="Leelawadee UI"/>
                <a:cs typeface="Leelawadee UI"/>
              </a:rPr>
              <a:t>Follow-up overdue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9A1F03-5286-45F6-AAD1-63CBA76B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276850"/>
            <a:ext cx="1285875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D9EAE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Visit today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38F94C9-A86C-4E86-B884-20DC4FD0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276850"/>
            <a:ext cx="16954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1E0C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rPr>
              <a:t>Bank docs missing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D4EA60-E4CB-48D4-AA39-004DFC58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76850"/>
            <a:ext cx="140970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D9EAE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Ready to book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27F886-18CD-4E44-8006-B94E0DFA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15AAAE-3BBC-43DF-8D2F-754CAE71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029520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33CD51-6CB3-45A0-A51C-9F98D521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07 · IPAD BOOKING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B5443-0B47-4A20-9DA7-9B2DE1E7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แตะห้อง → ตรวจสถานะ → จอง → ออกใบจอง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B6F47-37AC-4AC9-BAE6-E5E58AAC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เดโม่ใช้ผังตัวอย่างและราคา/สถานะสมมติ เพื่อแสดง workflow บน iPad เพียงเครื่องเดียว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BD951-F361-41FF-BD40-FA2B00DB9A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2302b0db546f4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43125"/>
            <a:ext cx="7239000" cy="4076700"/>
          </a:xfrm>
          <a:prstGeom xmlns:a="http://schemas.openxmlformats.org/drawingml/2006/main" prst="roundRect">
            <a:avLst>
              <a:gd name="adj" fmla="val 280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15EDF-634C-4663-8C11-2BBDFDE3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43125"/>
            <a:ext cx="32956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9AF60-3956-4A52-B45E-8D37F6CA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57811-2F2D-486F-8950-D4F12A9A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33625"/>
            <a:ext cx="4191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8BD52-1349-44D1-8406-052C8A5E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860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Select unit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868DE-36C7-449F-B68A-27F37320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552700"/>
            <a:ext cx="2238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เลือก floor และห้อง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C2ABD-99D5-4509-9D46-22D502B1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32956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4E5305-1EE3-4942-8BB4-B79EA5BA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861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72000-787F-4CE9-95D9-1953A53A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95650"/>
            <a:ext cx="4191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1EA0F-3934-46F2-9FBF-53F1A067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480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Buyer + payment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F36634-CE13-46B1-AEEE-92B57076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514725"/>
            <a:ext cx="2238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ผูก lead และเงินจอง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C7D52D-7837-481A-83D3-B05BF76E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67175"/>
            <a:ext cx="32956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1A9736-1954-494E-B166-6A9D36D0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48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E1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991B79-052F-44F9-B33C-B490F209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57675"/>
            <a:ext cx="4191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BCB477-4098-4220-8C0C-A30BFE4F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1005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Finance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F387A8-3318-4B29-A9F5-A7327A58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476750"/>
            <a:ext cx="2238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Pending / pre-approved / cash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9D1A0-55AB-4A3A-A246-38C917FA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29200"/>
            <a:ext cx="32956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23B3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E3439F-8691-4DC7-8C6A-47CDB772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01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9A7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6DFC77-191C-4EC8-878A-D4338ABD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219700"/>
            <a:ext cx="4191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12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EFDAB-5880-4E73-A570-284A2805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1720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Receipt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86383C-6718-442A-A8BD-FB315BD1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438775"/>
            <a:ext cx="2238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D8E9E2"/>
                </a:solidFill>
                <a:latin typeface="Leelawadee UI"/>
                <a:ea typeface="Leelawadee UI"/>
                <a:cs typeface="Leelawadee UI"/>
              </a:rPr>
              <a:t>บันทึก local และพิมพ์ใบจอง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0796D7-C9B5-422F-AA61-D945D2D9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6000750"/>
            <a:ext cx="3143250" cy="295275"/>
          </a:xfrm>
          <a:prstGeom xmlns:a="http://schemas.openxmlformats.org/drawingml/2006/main" prst="roundRect">
            <a:avLst>
              <a:gd name="adj" fmla="val 38710"/>
            </a:avLst>
          </a:prstGeom>
          <a:solidFill xmlns:a="http://schemas.openxmlformats.org/drawingml/2006/main">
            <a:srgbClr val="F1E0C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8A603B"/>
                </a:solidFill>
                <a:latin typeface="Leelawadee UI"/>
                <a:ea typeface="Leelawadee UI"/>
                <a:cs typeface="Leelawadee UI"/>
              </a:rPr>
              <a:t>NO REAL CHARGE · LOCAL DEMO ONLY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072776-0209-44F3-A61F-C7E93F93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C37FD0-33E4-4B60-B7BC-ECB208F4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836071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23B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90644C-581E-4362-A19F-3DA17DEF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08 · TEAM &amp; GOVERNANCE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D642BE-B3F8-469C-8326-B7F120DB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ทีมสร้างเร็วได้ แต่สิทธิ์อนุมัติยังอยู่ที่หัวหน้า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26038-3FA1-4B9D-9A97-03586B85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rPr>
              <a:t>บทบาทชัด ลดงานย้อนกลับ และทำให้การเพิ่มงบมีเหตุผลจากข้อมูล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4ABC67-7290-4A25-9A6F-91B36B1A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25717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B4A46"/>
          </a:solidFill>
          <a:ln xmlns:a="http://schemas.openxmlformats.org/drawingml/2006/main" w="9525">
            <a:solidFill>
              <a:srgbClr val="44706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EA50F-946C-49BC-B8BB-FA244FE0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017A38-2283-43E6-9D36-416F3DE3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HEAD OF MARKETING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153CCF-D6B4-4517-B216-04A9DFCB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rPr>
              <a:t>Goal · Budget · Final approval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A4F1A-3D53-4AC4-B43F-4339942F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43150"/>
            <a:ext cx="25717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B4A46"/>
          </a:solidFill>
          <a:ln xmlns:a="http://schemas.openxmlformats.org/drawingml/2006/main" w="9525">
            <a:solidFill>
              <a:srgbClr val="44706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1C1F6-16DF-402A-97C7-BEAAA825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98E855-34EE-4C3A-998A-DFE05420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STRATEGIST / MEDIA BUYER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C3EA9-A122-4700-AD31-A21A1A11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385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rPr>
              <a:t>Audience · Tracking · Optimize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5CD02-32D5-4DF7-9DFA-81A22FE8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43150"/>
            <a:ext cx="25717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B4A46"/>
          </a:solidFill>
          <a:ln xmlns:a="http://schemas.openxmlformats.org/drawingml/2006/main" w="9525">
            <a:solidFill>
              <a:srgbClr val="44706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1E393B-5158-49B7-8C5F-AB8AEDB4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717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59D71C-AE80-4E4F-830E-D9B8B23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CONTENT LEAD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CA285-F14C-497C-9BEF-FAD4AC49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385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rPr>
              <a:t>Pillar · Script · Copy · Brief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9E8F70-500F-4C0E-831E-94998C05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43150"/>
            <a:ext cx="257175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1B4A46"/>
          </a:solidFill>
          <a:ln xmlns:a="http://schemas.openxmlformats.org/drawingml/2006/main" w="9525">
            <a:solidFill>
              <a:srgbClr val="44706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FDACE-CC41-4B6F-AEFA-DC5624C0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717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F86A28-E8B4-4A08-BC64-5C112E57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051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5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DESIGNER / EDITOR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8492F3-8594-4C8C-A491-279B3CE6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3857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defRPr>
            </a:pPr>
            <a:r>
              <a:rPr sz="1050" b="0" i="0">
                <a:solidFill>
                  <a:srgbClr val="BCD1C8"/>
                </a:solidFill>
                <a:latin typeface="Leelawadee UI"/>
                <a:ea typeface="Leelawadee UI"/>
                <a:cs typeface="Leelawadee UI"/>
              </a:rPr>
              <a:t>Static · Video · Variants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4FB75-D1CF-4706-BA3F-458D5E0F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75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BRIEF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7B31E-E047-4A07-894A-D199C4A3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38750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253"/>
          </a:bodyPr>
          <a:lstStyle xmlns:a="http://schemas.openxmlformats.org/drawingml/2006/main">
            <a:def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AB5DF5-928B-4B62-89D2-685C9BE2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75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CONTENT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8E1F0-D510-41A8-8DF6-69C016C5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38750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253"/>
          </a:bodyPr>
          <a:lstStyle xmlns:a="http://schemas.openxmlformats.org/drawingml/2006/main">
            <a:def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D034FE-2F64-4011-A4D0-C44371BA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75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DESIGN / VIDEO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2D9BB3-C41E-482E-8D11-5CAED201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238750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253"/>
          </a:bodyPr>
          <a:lstStyle xmlns:a="http://schemas.openxmlformats.org/drawingml/2006/main">
            <a:def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7EA446-030E-42CC-A253-3921A459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09A7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HEAD APPROVES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61CF2-646E-48D8-BE4B-4C66091E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238750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253"/>
          </a:bodyPr>
          <a:lstStyle xmlns:a="http://schemas.openxmlformats.org/drawingml/2006/main">
            <a:def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AD4522-5EE4-4C64-B5C9-02734571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75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LAUNCH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02CF86-4655-4C7B-809E-DF51AE5A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5238750"/>
            <a:ext cx="238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35253"/>
          </a:bodyPr>
          <a:lstStyle xmlns:a="http://schemas.openxmlformats.org/drawingml/2006/main">
            <a:def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795242-6D3E-4CCE-AB48-807C6026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191125"/>
            <a:ext cx="15621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C09A7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HEAD REVIEWS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C701C8-32D4-4492-8BE6-0EC79EFA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>
            <a:def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defRPr>
            </a:pPr>
            <a:r>
              <a:rPr sz="750" b="1" i="0">
                <a:solidFill>
                  <a:srgbClr val="9CBAB0"/>
                </a:solidFill>
                <a:latin typeface="Leelawadee UI"/>
                <a:ea typeface="Leelawadee UI"/>
                <a:cs typeface="Leelawadee UI"/>
              </a:rPr>
              <a:t>DEMO OPERATING MODEL · ADAPT ROLES TO ACTUAL TEAM SIZE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B7BC78-6520-4247-8ED2-76640503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C819C0-EA64-4DAB-99D3-3BE0551B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335107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D1869A-9498-42D0-87E3-2C265A79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1" i="0">
                <a:solidFill>
                  <a:srgbClr val="1E6B63"/>
                </a:solidFill>
                <a:latin typeface="Leelawadee UI"/>
                <a:ea typeface="Leelawadee UI"/>
                <a:cs typeface="Leelawadee UI"/>
              </a:rPr>
              <a:t>09 · LIVE DEMO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04FDC-D6F1-47B4-8D9E-51531583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315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เส้นทางสาธิตที่ใช้เวลาไม่เกิน 7 นาที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DE8E10-3C97-4EB8-A609-77E4A48F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135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เดโม่ติดตั้งอยู่บนเครื่องนี้แล้ว และเปิดจาก run-demo.ps1 หรือ local server ที่ port 4173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77303-338A-4350-81E4-F0CC07BD04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96eacd6e5471d"/>
          <a:srcRect xmlns:a="http://schemas.openxmlformats.org/drawingml/2006/main" l="0" t="12" r="0" b="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238375"/>
            <a:ext cx="5619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20E9F-314E-4382-9CFC-62B68E42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43125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A5AF4-BA9F-484B-B090-F2FA6F0A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8600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24069D-462A-471D-AFA4-95C23F44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742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Command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46614-0BA2-4DDD-A937-637B75FE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00325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อธิบาย customer journey + ทีม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7F56D-4D4D-4E80-9ACE-401E41E0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43125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C1942-D11D-4C7F-9499-E840EFCC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8600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7B9B2-41B3-4778-9745-0144F821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5742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Marketing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5162E-03A4-41A0-960A-41ECDABB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00325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กรอง Meta แล้วอ่าน CPL / ROAS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B52EF3-AF4D-4CB1-B994-D86D7534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FC3384-A443-4569-A944-B18EF491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0042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E8FB4-5CED-4779-9261-A8FFC09A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7185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Website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A8D32C-9481-4DC7-8D55-86169674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14750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กรอก demo lead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1E250-23BE-42E0-A519-004F8F45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57550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E42FB9-9869-4158-AD9D-5362A725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0042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66FFA8-A7F8-4A95-9274-00B5D78D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7185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CRM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7DA979-A73A-49F4-9BB3-20F9C995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14750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เห็น lead ใหม่ + assign owner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5D523C-F7EC-4BE1-9304-D2F24C6E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99211-F244-4B26-885D-DD233BE7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148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22AB4-9F7D-42A8-A50D-7BDDA164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862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Inventory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5B5D55-2620-4537-B627-FD62FE99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29175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เลือกห้องและจองจำลอง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18D5C6-D06F-492A-8266-B20E906D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71975"/>
            <a:ext cx="22098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D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AF60F1-9953-45DD-92AE-C68BC712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5148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939"/>
          </a:bodyPr>
          <a:lstStyle xmlns:a="http://schemas.openxmlformats.org/drawingml/2006/main">
            <a:def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C09A70"/>
                </a:solidFill>
                <a:latin typeface="Leelawadee UI"/>
                <a:ea typeface="Leelawadee UI"/>
                <a:cs typeface="Leelawadee UI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4F8ACE-213B-4E43-BAE2-67AF696A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08"/>
          </a:bodyPr>
          <a:lstStyle xmlns:a="http://schemas.openxmlformats.org/drawingml/2006/main">
            <a:def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defRPr>
            </a:pPr>
            <a:r>
              <a:rPr sz="1200" b="1" i="0">
                <a:solidFill>
                  <a:srgbClr val="132623"/>
                </a:solidFill>
                <a:latin typeface="Leelawadee UI"/>
                <a:ea typeface="Leelawadee UI"/>
                <a:cs typeface="Leelawadee UI"/>
              </a:rPr>
              <a:t>Receipt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D51563-9BDB-4C7D-8526-4696F97D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829175"/>
            <a:ext cx="1866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defRPr>
            </a:pPr>
            <a:r>
              <a:rPr sz="900" b="0" i="0">
                <a:solidFill>
                  <a:srgbClr val="66736F"/>
                </a:solidFill>
                <a:latin typeface="Leelawadee UI"/>
                <a:ea typeface="Leelawadee UI"/>
                <a:cs typeface="Leelawadee UI"/>
              </a:rPr>
              <a:t>พิมพ์ใบจอง · ไม่มีการตัดเงินจริง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098706-2227-43EB-B892-253A08D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24525"/>
            <a:ext cx="108394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23B3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def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defPPr>
            <a:lvl1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1pPr>
            <a:lvl2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2pPr>
            <a:lvl3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3pPr>
            <a:lvl4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4pPr>
            <a:lvl5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5pPr>
            <a:lvl6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6pPr>
            <a:lvl7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7pPr>
            <a:lvl8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8pPr>
            <a:lvl9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defRPr>
            </a:pPr>
            <a:r>
              <a:rPr sz="1275" b="1" i="0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NEXT: connect real Meta/Google data → configure PDPA consent → role permissions → payment gateway sandbox → UAT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D488E4-3046-4C50-A3B2-256374AB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723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519"/>
          </a:bodyPr>
          <a:lstStyle xmlns:a="http://schemas.openxmlformats.org/drawingml/2006/main">
            <a:def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defPPr>
            <a:lvl1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1pPr>
            <a:lvl2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2pPr>
            <a:lvl3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3pPr>
            <a:lvl4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4pPr>
            <a:lvl5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5pPr>
            <a:lvl6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6pPr>
            <a:lvl7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7pPr>
            <a:lvl8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8pPr>
            <a:lvl9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l">
              <a:def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defRPr>
            </a:pPr>
            <a:r>
              <a:rPr sz="675" b="1" i="0">
                <a:solidFill>
                  <a:srgbClr val="84918D"/>
                </a:solidFill>
                <a:latin typeface="Leelawadee UI"/>
                <a:ea typeface="Leelawadee UI"/>
                <a:cs typeface="Leelawadee UI"/>
              </a:rPr>
              <a:t>AROM JOMTIEN · DIGITAL SALES COMMAND CENTER · CONCEPT DEMO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480D64-E5F0-45ED-B388-B2F35C65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>
            <a:def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defPPr>
            <a:lvl1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1pPr>
            <a:lvl2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2pPr>
            <a:lvl3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3pPr>
            <a:lvl4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4pPr>
            <a:lvl5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5pPr>
            <a:lvl6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6pPr>
            <a:lvl7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7pPr>
            <a:lvl8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8pPr>
            <a:lvl9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lvl9pPr>
          </a:lstStyle>
          <a:p xmlns:a="http://schemas.openxmlformats.org/drawingml/2006/main">
            <a:pPr algn="r">
              <a:def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defRPr>
            </a:pPr>
            <a:r>
              <a:rPr sz="825" b="1" i="0">
                <a:solidFill>
                  <a:srgbClr val="123B39"/>
                </a:solidFill>
                <a:latin typeface="Leelawadee UI"/>
                <a:ea typeface="Leelawadee UI"/>
                <a:cs typeface="Leelawadee U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92792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2026-10-18T19:59:22.6140000Z</dcterms:created>
  <dcterms:modified xsi:type="dcterms:W3CDTF">2026-10-18T19:59:22.6150000Z</dcterms:modified>
</coreProperties>
</file>